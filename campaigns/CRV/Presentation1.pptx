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3" r:id="rId4"/>
    <p:sldId id="270" r:id="rId5"/>
    <p:sldId id="271" r:id="rId6"/>
    <p:sldId id="274" r:id="rId7"/>
    <p:sldId id="277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660"/>
  </p:normalViewPr>
  <p:slideViewPr>
    <p:cSldViewPr snapToGrid="0">
      <p:cViewPr>
        <p:scale>
          <a:sx n="114" d="100"/>
          <a:sy n="114" d="100"/>
        </p:scale>
        <p:origin x="-1628" y="-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Monthly PCL response rate by CRV exposure status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0000000000000007E-2"/>
          <c:y val="0.1"/>
          <c:w val="0.57595505617977527"/>
          <c:h val="0.82"/>
        </c:manualLayout>
      </c:layout>
      <c:lineChart>
        <c:grouping val="standard"/>
        <c:varyColors val="0"/>
        <c:ser>
          <c:idx val="0"/>
          <c:order val="0"/>
          <c:tx>
            <c:v>Clients not in CRV (baseline)</c:v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  <c:pt idx="19">
                <c:v>19.14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93D-4FFF-9CFB-A2495464352C}"/>
            </c:ext>
          </c:extLst>
        </c:ser>
        <c:ser>
          <c:idx val="1"/>
          <c:order val="1"/>
          <c:tx>
            <c:v>CRV-eligible, held out (Control)</c:v>
          </c:tx>
          <c:spPr>
            <a:ln w="28575">
              <a:solidFill>
                <a:srgbClr val="0E7C86"/>
              </a:solidFill>
            </a:ln>
          </c:spPr>
          <c:marker>
            <c:symbol val="circle"/>
            <c:size val="6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  <c:pt idx="19">
                <c:v>15.19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93D-4FFF-9CFB-A2495464352C}"/>
            </c:ext>
          </c:extLst>
        </c:ser>
        <c:ser>
          <c:idx val="2"/>
          <c:order val="2"/>
          <c:tx>
            <c:v>CRV-exposed (Action)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6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  <c:pt idx="19">
                <c:v>15.01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A93D-4FFF-9CFB-A24954643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PCL response rate by CRV exposure status, monthly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PCL response — CRV-exposed (Action)</c:v>
          </c:tx>
          <c:spPr>
            <a:ln w="2222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  <c:pt idx="19">
                <c:v>15.01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132-480A-9295-2701714916B2}"/>
            </c:ext>
          </c:extLst>
        </c:ser>
        <c:ser>
          <c:idx val="1"/>
          <c:order val="1"/>
          <c:tx>
            <c:v>PCL response — CRV-eligible held out (Control)</c:v>
          </c:tx>
          <c:spPr>
            <a:ln w="2222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  <c:pt idx="19">
                <c:v>15.19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132-480A-9295-2701714916B2}"/>
            </c:ext>
          </c:extLst>
        </c:ser>
        <c:ser>
          <c:idx val="2"/>
          <c:order val="2"/>
          <c:tx>
            <c:v>PCL response — clients not in CRV</c:v>
          </c:tx>
          <c:spPr>
            <a:ln w="22225">
              <a:solidFill>
                <a:srgbClr val="6B7280"/>
              </a:solidFill>
            </a:ln>
          </c:spPr>
          <c:marker>
            <c:symbol val="circle"/>
            <c:size val="5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20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  <c:pt idx="19">
                <c:v>May 26</c:v>
              </c:pt>
            </c:strLit>
          </c:cat>
          <c:val>
            <c:numLit>
              <c:formatCode>General</c:formatCode>
              <c:ptCount val="20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  <c:pt idx="19">
                <c:v>19.14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E132-480A-9295-270171491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300" b="1">
                <a:solidFill>
                  <a:srgbClr val="1F2937"/>
                </a:solidFill>
              </a:rPr>
              <a:t>CRV response rate collapses past contact #5</a:t>
            </a:r>
          </a:p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000">
                <a:solidFill>
                  <a:srgbClr val="6B7280"/>
                </a:solidFill>
              </a:rPr>
              <a:t>2026 deployments, IM and EM_IM_DO bundles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86"/>
          <c:h val="0.62"/>
        </c:manualLayout>
      </c:layout>
      <c:lineChart>
        <c:grouping val="standard"/>
        <c:varyColors val="0"/>
        <c:ser>
          <c:idx val="0"/>
          <c:order val="0"/>
          <c:tx>
            <c:v>IM</c:v>
          </c:tx>
          <c:spPr>
            <a:ln w="25400">
              <a:solidFill>
                <a:srgbClr val="1F4E79"/>
              </a:solidFill>
            </a:ln>
          </c:spPr>
          <c:marker>
            <c:symbol val="circle"/>
            <c:size val="6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1.53</c:v>
              </c:pt>
              <c:pt idx="1">
                <c:v>1.36</c:v>
              </c:pt>
              <c:pt idx="2">
                <c:v>1.3</c:v>
              </c:pt>
              <c:pt idx="3">
                <c:v>1.21</c:v>
              </c:pt>
              <c:pt idx="4">
                <c:v>1.17</c:v>
              </c:pt>
              <c:pt idx="5">
                <c:v>1.02</c:v>
              </c:pt>
              <c:pt idx="6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66-4049-92D0-784FC52ED232}"/>
            </c:ext>
          </c:extLst>
        </c:ser>
        <c:ser>
          <c:idx val="1"/>
          <c:order val="1"/>
          <c:tx>
            <c:v>EM_IM_DO</c:v>
          </c:tx>
          <c:spPr>
            <a:ln w="25400">
              <a:solidFill>
                <a:srgbClr val="0E7C86"/>
              </a:solidFill>
            </a:ln>
          </c:spPr>
          <c:marker>
            <c:symbol val="circle"/>
            <c:size val="6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2.2200000000000002</c:v>
              </c:pt>
              <c:pt idx="1">
                <c:v>0.91</c:v>
              </c:pt>
              <c:pt idx="2">
                <c:v>0.76</c:v>
              </c:pt>
              <c:pt idx="3">
                <c:v>0.68</c:v>
              </c:pt>
              <c:pt idx="4">
                <c:v>0.64</c:v>
              </c:pt>
              <c:pt idx="5">
                <c:v>0.51</c:v>
              </c:pt>
              <c:pt idx="6">
                <c:v>0.12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8766-4049-92D0-784FC52ED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solidFill>
                      <a:srgbClr val="6B7280"/>
                    </a:solidFill>
                  </a:defRPr>
                </a:pPr>
                <a:r>
                  <a:rPr lang="en-US" sz="1000">
                    <a:solidFill>
                      <a:srgbClr val="6B7280"/>
                    </a:solidFill>
                  </a:rPr>
                  <a:t>Contact frequency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.5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300" b="1">
                <a:solidFill>
                  <a:srgbClr val="1F2937"/>
                </a:solidFill>
              </a:rPr>
              <a:t>PCL response rate is suppressed when CRV competes on IM</a:t>
            </a:r>
          </a:p>
          <a:p>
            <a:pPr algn="l">
              <a:defRPr sz="1300" b="1">
                <a:solidFill>
                  <a:srgbClr val="1F2937"/>
                </a:solidFill>
              </a:defRPr>
            </a:pPr>
            <a:r>
              <a:rPr lang="en-US" sz="1000">
                <a:solidFill>
                  <a:srgbClr val="6B7280"/>
                </a:solidFill>
              </a:rPr>
              <a:t>Oct 2024 – Apr 2026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86"/>
          <c:h val="0.62"/>
        </c:manualLayout>
      </c:layout>
      <c:lineChart>
        <c:grouping val="standard"/>
        <c:varyColors val="0"/>
        <c:ser>
          <c:idx val="0"/>
          <c:order val="0"/>
          <c:tx>
            <c:v>no_overlap</c:v>
          </c:tx>
          <c:spPr>
            <a:ln w="25400">
              <a:solidFill>
                <a:srgbClr val="6B7280"/>
              </a:solidFill>
            </a:ln>
          </c:spPr>
          <c:marker>
            <c:symbol val="circle"/>
            <c:size val="5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18.09</c:v>
              </c:pt>
              <c:pt idx="1">
                <c:v>19.16</c:v>
              </c:pt>
              <c:pt idx="2">
                <c:v>18.72</c:v>
              </c:pt>
              <c:pt idx="3">
                <c:v>18.39</c:v>
              </c:pt>
              <c:pt idx="4">
                <c:v>18.05</c:v>
              </c:pt>
              <c:pt idx="5">
                <c:v>19.16</c:v>
              </c:pt>
              <c:pt idx="6">
                <c:v>18.899999999999999</c:v>
              </c:pt>
              <c:pt idx="7">
                <c:v>17.96</c:v>
              </c:pt>
              <c:pt idx="8">
                <c:v>18.93</c:v>
              </c:pt>
              <c:pt idx="9">
                <c:v>18.899999999999999</c:v>
              </c:pt>
              <c:pt idx="10">
                <c:v>17.98</c:v>
              </c:pt>
              <c:pt idx="11">
                <c:v>18.09</c:v>
              </c:pt>
              <c:pt idx="12">
                <c:v>18.2</c:v>
              </c:pt>
              <c:pt idx="13">
                <c:v>17.86</c:v>
              </c:pt>
              <c:pt idx="14">
                <c:v>19.05</c:v>
              </c:pt>
              <c:pt idx="15">
                <c:v>18.66</c:v>
              </c:pt>
              <c:pt idx="16">
                <c:v>18.79</c:v>
              </c:pt>
              <c:pt idx="17">
                <c:v>17.91</c:v>
              </c:pt>
              <c:pt idx="18">
                <c:v>19.309999999999999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B39-40B7-8C02-3E3CC46533C5}"/>
            </c:ext>
          </c:extLst>
        </c:ser>
        <c:ser>
          <c:idx val="1"/>
          <c:order val="1"/>
          <c:tx>
            <c:v>overlap_control</c:v>
          </c:tx>
          <c:spPr>
            <a:ln w="25400">
              <a:solidFill>
                <a:srgbClr val="0E7C86"/>
              </a:solidFill>
            </a:ln>
          </c:spPr>
          <c:marker>
            <c:symbol val="circle"/>
            <c:size val="5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14.44</c:v>
              </c:pt>
              <c:pt idx="1">
                <c:v>15</c:v>
              </c:pt>
              <c:pt idx="2">
                <c:v>15.15</c:v>
              </c:pt>
              <c:pt idx="3">
                <c:v>14.84</c:v>
              </c:pt>
              <c:pt idx="4">
                <c:v>14.07</c:v>
              </c:pt>
              <c:pt idx="5">
                <c:v>15.56</c:v>
              </c:pt>
              <c:pt idx="6">
                <c:v>15.36</c:v>
              </c:pt>
              <c:pt idx="7">
                <c:v>14.83</c:v>
              </c:pt>
              <c:pt idx="8">
                <c:v>15.1</c:v>
              </c:pt>
              <c:pt idx="9">
                <c:v>14.96</c:v>
              </c:pt>
              <c:pt idx="10">
                <c:v>14.47</c:v>
              </c:pt>
              <c:pt idx="11">
                <c:v>14.95</c:v>
              </c:pt>
              <c:pt idx="12">
                <c:v>15.04</c:v>
              </c:pt>
              <c:pt idx="13">
                <c:v>14.87</c:v>
              </c:pt>
              <c:pt idx="14">
                <c:v>15.16</c:v>
              </c:pt>
              <c:pt idx="15">
                <c:v>15.05</c:v>
              </c:pt>
              <c:pt idx="16">
                <c:v>15.19</c:v>
              </c:pt>
              <c:pt idx="17">
                <c:v>14.3</c:v>
              </c:pt>
              <c:pt idx="18">
                <c:v>15.68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B39-40B7-8C02-3E3CC46533C5}"/>
            </c:ext>
          </c:extLst>
        </c:ser>
        <c:ser>
          <c:idx val="2"/>
          <c:order val="2"/>
          <c:tx>
            <c:v>overlap_action</c:v>
          </c:tx>
          <c:spPr>
            <a:ln w="25400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14.1</c:v>
              </c:pt>
              <c:pt idx="1">
                <c:v>14.27</c:v>
              </c:pt>
              <c:pt idx="2">
                <c:v>14.35</c:v>
              </c:pt>
              <c:pt idx="3">
                <c:v>14.69</c:v>
              </c:pt>
              <c:pt idx="4">
                <c:v>13.85</c:v>
              </c:pt>
              <c:pt idx="5">
                <c:v>15.16</c:v>
              </c:pt>
              <c:pt idx="6">
                <c:v>14.84</c:v>
              </c:pt>
              <c:pt idx="7">
                <c:v>14.64</c:v>
              </c:pt>
              <c:pt idx="8">
                <c:v>14.04</c:v>
              </c:pt>
              <c:pt idx="9">
                <c:v>14.58</c:v>
              </c:pt>
              <c:pt idx="10">
                <c:v>14.22</c:v>
              </c:pt>
              <c:pt idx="11">
                <c:v>14.58</c:v>
              </c:pt>
              <c:pt idx="12">
                <c:v>14.57</c:v>
              </c:pt>
              <c:pt idx="13">
                <c:v>14.4</c:v>
              </c:pt>
              <c:pt idx="14">
                <c:v>14.93</c:v>
              </c:pt>
              <c:pt idx="15">
                <c:v>14.63</c:v>
              </c:pt>
              <c:pt idx="16">
                <c:v>14.68</c:v>
              </c:pt>
              <c:pt idx="17">
                <c:v>13.66</c:v>
              </c:pt>
              <c:pt idx="18">
                <c:v>15.27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1B39-40B7-8C02-3E3CC46533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2"/>
          <c:min val="1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3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rPr lang="en-US" sz="1400" b="1">
                <a:solidFill>
                  <a:srgbClr val="1F2937"/>
                </a:solidFill>
              </a:rPr>
              <a:t>Most clients sit deep in the tail — exactly where response collapses</a:t>
            </a:r>
          </a:p>
          <a:p>
            <a:pPr algn="l">
              <a:defRPr sz="1400" b="1">
                <a:solidFill>
                  <a:srgbClr val="1F2937"/>
                </a:solidFill>
              </a:defRPr>
            </a:pPr>
            <a:r>
              <a:rPr lang="en-US" sz="1100">
                <a:solidFill>
                  <a:srgbClr val="6B7280"/>
                </a:solidFill>
              </a:rPr>
              <a:t>2026 IM deployments — bars: share of clients at each contact #; line: response rate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9"/>
          <c:y val="0.2"/>
          <c:w val="0.82"/>
          <c:h val="0.66"/>
        </c:manualLayout>
      </c:layout>
      <c:barChart>
        <c:barDir val="col"/>
        <c:grouping val="clustered"/>
        <c:varyColors val="0"/>
        <c:ser>
          <c:idx val="0"/>
          <c:order val="0"/>
          <c:tx>
            <c:v>Share of clients</c:v>
          </c:tx>
          <c:spPr>
            <a:solidFill>
              <a:srgbClr val="9CA3AF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2410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80E-4C1B-B6B6-52F4C39883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80E-4C1B-B6B6-52F4C39883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80E-4C1B-B6B6-52F4C398831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80E-4C1B-B6B6-52F4C398831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80E-4C1B-B6B6-52F4C398831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80E-4C1B-B6B6-52F4C398831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580E-4C1B-B6B6-52F4C398831C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37415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6</c:v>
              </c:pt>
              <c:pt idx="1">
                <c:v>9</c:v>
              </c:pt>
              <c:pt idx="2">
                <c:v>14</c:v>
              </c:pt>
              <c:pt idx="3">
                <c:v>22</c:v>
              </c:pt>
              <c:pt idx="4">
                <c:v>24</c:v>
              </c:pt>
              <c:pt idx="5">
                <c:v>16</c:v>
              </c:pt>
              <c:pt idx="6">
                <c:v>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580E-4C1B-B6B6-52F4C3988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lineChart>
        <c:grouping val="standard"/>
        <c:varyColors val="0"/>
        <c:ser>
          <c:idx val="1"/>
          <c:order val="1"/>
          <c:tx>
            <c:v>Response rate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7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1.53</c:v>
              </c:pt>
              <c:pt idx="1">
                <c:v>1.36</c:v>
              </c:pt>
              <c:pt idx="2">
                <c:v>1.3</c:v>
              </c:pt>
              <c:pt idx="3">
                <c:v>1.21</c:v>
              </c:pt>
              <c:pt idx="4">
                <c:v>1.17</c:v>
              </c:pt>
              <c:pt idx="5">
                <c:v>1.02</c:v>
              </c:pt>
              <c:pt idx="6">
                <c:v>0.32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F-580E-4C1B-B6B6-52F4C3988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0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>
                    <a:solidFill>
                      <a:srgbClr val="6B7280"/>
                    </a:solidFill>
                  </a:defRPr>
                </a:pPr>
                <a:r>
                  <a:rPr lang="en-US" sz="1100">
                    <a:solidFill>
                      <a:srgbClr val="6B7280"/>
                    </a:solidFill>
                  </a:rPr>
                  <a:t>Share of clients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100">
                    <a:solidFill>
                      <a:srgbClr val="1F4E79"/>
                    </a:solidFill>
                  </a:defRPr>
                </a:pPr>
                <a:r>
                  <a:rPr lang="en-US" sz="1100">
                    <a:solidFill>
                      <a:srgbClr val="1F4E79"/>
                    </a:solidFill>
                  </a:rPr>
                  <a:t>Response rate</a:t>
                </a:r>
              </a:p>
            </c:rich>
          </c:tx>
          <c:overlay val="0"/>
        </c:title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4E79"/>
                </a:solidFill>
              </a:defRPr>
            </a:pPr>
            <a:endParaRPr lang="en-US"/>
          </a:p>
        </c:txPr>
        <c:crossAx val="3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Most CRV contacts in 2026 hit already-contacted clients,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and response collapses past the 5th touch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"/>
          <c:y val="0.22"/>
          <c:w val="0.8"/>
          <c:h val="0.64"/>
        </c:manualLayout>
      </c:layout>
      <c:barChart>
        <c:barDir val="col"/>
        <c:grouping val="clustered"/>
        <c:varyColors val="0"/>
        <c:ser>
          <c:idx val="0"/>
          <c:order val="0"/>
          <c:tx>
            <c:v>Share of 2026 deployments</c:v>
          </c:tx>
          <c:spPr>
            <a:solidFill>
              <a:srgbClr val="1F4E79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C2410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C23-4979-A858-0757BF6D19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C23-4979-A858-0757BF6D19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C23-4979-A858-0757BF6D19C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C23-4979-A858-0757BF6D19C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C23-4979-A858-0757BF6D19CF}"/>
              </c:ext>
            </c:extLst>
          </c:dPt>
          <c:dPt>
            <c:idx val="5"/>
            <c:invertIfNegative val="0"/>
            <c:bubble3D val="0"/>
            <c:spPr>
              <a:solidFill>
                <a:srgbClr val="C7CDD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C23-4979-A858-0757BF6D19CF}"/>
              </c:ext>
            </c:extLst>
          </c:dPt>
          <c:dPt>
            <c:idx val="6"/>
            <c:invertIfNegative val="0"/>
            <c:bubble3D val="0"/>
            <c:spPr>
              <a:solidFill>
                <a:srgbClr val="C7CDD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9C23-4979-A858-0757BF6D19C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F293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6.1</c:v>
              </c:pt>
              <c:pt idx="1">
                <c:v>21.3</c:v>
              </c:pt>
              <c:pt idx="2">
                <c:v>19.600000000000001</c:v>
              </c:pt>
              <c:pt idx="3">
                <c:v>18</c:v>
              </c:pt>
              <c:pt idx="4">
                <c:v>16</c:v>
              </c:pt>
              <c:pt idx="5">
                <c:v>13.1</c:v>
              </c:pt>
              <c:pt idx="6">
                <c:v>5.8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9C23-4979-A858-0757BF6D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lineChart>
        <c:grouping val="standard"/>
        <c:varyColors val="0"/>
        <c:ser>
          <c:idx val="1"/>
          <c:order val="1"/>
          <c:tx>
            <c:v>Response rate</c:v>
          </c:tx>
          <c:spPr>
            <a:ln w="28575">
              <a:solidFill>
                <a:srgbClr val="1F2937"/>
              </a:solidFill>
            </a:ln>
          </c:spPr>
          <c:marker>
            <c:symbol val="circle"/>
            <c:size val="6"/>
            <c:spPr>
              <a:solidFill>
                <a:srgbClr val="1F2937"/>
              </a:solidFill>
              <a:ln>
                <a:solidFill>
                  <a:srgbClr val="1F2937"/>
                </a:solidFill>
              </a:ln>
            </c:spPr>
          </c:marker>
          <c:cat>
            <c:strLit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strLit>
          </c:cat>
          <c:val>
            <c:numLit>
              <c:formatCode>General</c:formatCode>
              <c:ptCount val="7"/>
              <c:pt idx="0">
                <c:v>1.57</c:v>
              </c:pt>
              <c:pt idx="1">
                <c:v>1.34</c:v>
              </c:pt>
              <c:pt idx="2">
                <c:v>1.28</c:v>
              </c:pt>
              <c:pt idx="3">
                <c:v>1.19</c:v>
              </c:pt>
              <c:pt idx="4">
                <c:v>1.1399999999999999</c:v>
              </c:pt>
              <c:pt idx="5">
                <c:v>1</c:v>
              </c:pt>
              <c:pt idx="6">
                <c:v>0.31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F-9C23-4979-A858-0757BF6D1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solidFill>
                      <a:srgbClr val="6B7280"/>
                    </a:solidFill>
                  </a:defRPr>
                </a:pPr>
                <a:r>
                  <a:rPr lang="en-US" sz="1000">
                    <a:solidFill>
                      <a:srgbClr val="6B7280"/>
                    </a:solidFill>
                  </a:rPr>
                  <a:t>Contact frequency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5"/>
          <c:min val="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  <c:majorUnit val="5"/>
      </c:valAx>
      <c:catAx>
        <c:axId val="3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extTo"/>
        <c:crossAx val="4"/>
        <c:crosses val="autoZero"/>
        <c:auto val="1"/>
        <c:lblAlgn val="ctr"/>
        <c:lblOffset val="100"/>
        <c:noMultiLvlLbl val="1"/>
      </c:catAx>
      <c:valAx>
        <c:axId val="4"/>
        <c:scaling>
          <c:orientation val="minMax"/>
          <c:max val="2"/>
          <c:min val="0"/>
        </c:scaling>
        <c:delete val="0"/>
        <c:axPos val="r"/>
        <c:numFmt formatCode="0.0&quot;%&quot;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F2937"/>
                </a:solidFill>
              </a:defRPr>
            </a:pPr>
            <a:endParaRPr lang="en-US"/>
          </a:p>
        </c:txPr>
        <c:crossAx val="3"/>
        <c:crosses val="max"/>
        <c:crossBetween val="between"/>
      </c:valAx>
    </c:plotArea>
    <c:plotVisOnly val="1"/>
    <c:dispBlanksAs val="zero"/>
    <c:showDLblsOverMax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_baseline</c:v>
                </c:pt>
              </c:strCache>
            </c:strRef>
          </c:tx>
          <c:spPr>
            <a:noFill/>
            <a:ln>
              <a:noFill/>
            </a:ln>
          </c:spPr>
          <c:cat>
            <c:numRef>
              <c:f>Sheet1!$A$2:$A$20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13.72</c:v>
                </c:pt>
                <c:pt idx="1">
                  <c:v>13.89</c:v>
                </c:pt>
                <c:pt idx="2">
                  <c:v>13.95</c:v>
                </c:pt>
                <c:pt idx="3">
                  <c:v>14.26</c:v>
                </c:pt>
                <c:pt idx="4">
                  <c:v>13.5</c:v>
                </c:pt>
                <c:pt idx="5">
                  <c:v>14.68</c:v>
                </c:pt>
                <c:pt idx="6">
                  <c:v>14.4</c:v>
                </c:pt>
                <c:pt idx="7">
                  <c:v>14.21</c:v>
                </c:pt>
                <c:pt idx="8">
                  <c:v>13.68</c:v>
                </c:pt>
                <c:pt idx="9">
                  <c:v>14.16</c:v>
                </c:pt>
                <c:pt idx="10">
                  <c:v>13.82</c:v>
                </c:pt>
                <c:pt idx="11">
                  <c:v>14.16</c:v>
                </c:pt>
                <c:pt idx="12">
                  <c:v>14.16</c:v>
                </c:pt>
                <c:pt idx="13">
                  <c:v>14</c:v>
                </c:pt>
                <c:pt idx="14">
                  <c:v>14.48</c:v>
                </c:pt>
                <c:pt idx="15">
                  <c:v>14.19</c:v>
                </c:pt>
                <c:pt idx="16">
                  <c:v>14.25</c:v>
                </c:pt>
                <c:pt idx="17">
                  <c:v>13.34</c:v>
                </c:pt>
                <c:pt idx="18">
                  <c:v>14.79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5-4793-8B83-231A20EA95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_gap</c:v>
                </c:pt>
              </c:strCache>
            </c:strRef>
          </c:tx>
          <c:spPr>
            <a:solidFill>
              <a:srgbClr val="C2410C">
                <a:alpha val="22000"/>
              </a:srgbClr>
            </a:solidFill>
            <a:ln>
              <a:noFill/>
            </a:ln>
          </c:spPr>
          <c:cat>
            <c:numRef>
              <c:f>Sheet1!$A$2:$A$20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1.05</c:v>
                </c:pt>
                <c:pt idx="1">
                  <c:v>1.38</c:v>
                </c:pt>
                <c:pt idx="2">
                  <c:v>1.49</c:v>
                </c:pt>
                <c:pt idx="3">
                  <c:v>0.89</c:v>
                </c:pt>
                <c:pt idx="4">
                  <c:v>0.89</c:v>
                </c:pt>
                <c:pt idx="5">
                  <c:v>0.7</c:v>
                </c:pt>
                <c:pt idx="6">
                  <c:v>1.24</c:v>
                </c:pt>
                <c:pt idx="7">
                  <c:v>0.92</c:v>
                </c:pt>
                <c:pt idx="8">
                  <c:v>1.72</c:v>
                </c:pt>
                <c:pt idx="9">
                  <c:v>0.76</c:v>
                </c:pt>
                <c:pt idx="10">
                  <c:v>0.59</c:v>
                </c:pt>
                <c:pt idx="11">
                  <c:v>0.55000000000000004</c:v>
                </c:pt>
                <c:pt idx="12">
                  <c:v>0.56000000000000005</c:v>
                </c:pt>
                <c:pt idx="13">
                  <c:v>0.67</c:v>
                </c:pt>
                <c:pt idx="14">
                  <c:v>0.94</c:v>
                </c:pt>
                <c:pt idx="15">
                  <c:v>0.67</c:v>
                </c:pt>
                <c:pt idx="16">
                  <c:v>0.59</c:v>
                </c:pt>
                <c:pt idx="17">
                  <c:v>1.29</c:v>
                </c:pt>
                <c:pt idx="18">
                  <c:v>1.1399999999999999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75-4793-8B83-231A20EA9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areaChart>
      <c:lineChart>
        <c:grouping val="standard"/>
        <c:varyColors val="0"/>
        <c:ser>
          <c:idx val="2"/>
          <c:order val="2"/>
          <c:tx>
            <c:strRef>
              <c:f>Sheet1!$E$1</c:f>
              <c:strCache>
                <c:ptCount val="1"/>
                <c:pt idx="0">
                  <c:v>CRV-exposed PCL clients</c:v>
                </c:pt>
              </c:strCache>
            </c:strRef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numRef>
              <c:f>Sheet1!$D$2:$D$20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13.72</c:v>
                </c:pt>
                <c:pt idx="1">
                  <c:v>13.89</c:v>
                </c:pt>
                <c:pt idx="2">
                  <c:v>13.95</c:v>
                </c:pt>
                <c:pt idx="3">
                  <c:v>14.26</c:v>
                </c:pt>
                <c:pt idx="4">
                  <c:v>13.5</c:v>
                </c:pt>
                <c:pt idx="5">
                  <c:v>14.68</c:v>
                </c:pt>
                <c:pt idx="6">
                  <c:v>14.4</c:v>
                </c:pt>
                <c:pt idx="7">
                  <c:v>14.21</c:v>
                </c:pt>
                <c:pt idx="8">
                  <c:v>13.68</c:v>
                </c:pt>
                <c:pt idx="9">
                  <c:v>14.16</c:v>
                </c:pt>
                <c:pt idx="10">
                  <c:v>13.82</c:v>
                </c:pt>
                <c:pt idx="11">
                  <c:v>14.16</c:v>
                </c:pt>
                <c:pt idx="12">
                  <c:v>14.16</c:v>
                </c:pt>
                <c:pt idx="13">
                  <c:v>14</c:v>
                </c:pt>
                <c:pt idx="14">
                  <c:v>14.48</c:v>
                </c:pt>
                <c:pt idx="15">
                  <c:v>14.19</c:v>
                </c:pt>
                <c:pt idx="16">
                  <c:v>14.25</c:v>
                </c:pt>
                <c:pt idx="17">
                  <c:v>13.34</c:v>
                </c:pt>
                <c:pt idx="18">
                  <c:v>14.79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75-4793-8B83-231A20EA95D5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Comparable PCL clients (no CRV)</c:v>
                </c:pt>
              </c:strCache>
            </c:strRef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numRef>
              <c:f>Sheet1!$D$2:$D$20</c:f>
              <c:numCache>
                <c:formatCode>d\-mmm</c:formatCode>
                <c:ptCount val="19"/>
                <c:pt idx="0">
                  <c:v>46319</c:v>
                </c:pt>
                <c:pt idx="1">
                  <c:v>46350</c:v>
                </c:pt>
                <c:pt idx="2">
                  <c:v>46380</c:v>
                </c:pt>
                <c:pt idx="3">
                  <c:v>46047</c:v>
                </c:pt>
                <c:pt idx="4">
                  <c:v>46078</c:v>
                </c:pt>
                <c:pt idx="5">
                  <c:v>46106</c:v>
                </c:pt>
                <c:pt idx="6">
                  <c:v>46137</c:v>
                </c:pt>
                <c:pt idx="7">
                  <c:v>46167</c:v>
                </c:pt>
                <c:pt idx="8">
                  <c:v>46198</c:v>
                </c:pt>
                <c:pt idx="9">
                  <c:v>46228</c:v>
                </c:pt>
                <c:pt idx="10">
                  <c:v>46259</c:v>
                </c:pt>
                <c:pt idx="11">
                  <c:v>46290</c:v>
                </c:pt>
                <c:pt idx="12">
                  <c:v>46320</c:v>
                </c:pt>
                <c:pt idx="13">
                  <c:v>46351</c:v>
                </c:pt>
                <c:pt idx="14">
                  <c:v>46381</c:v>
                </c:pt>
                <c:pt idx="15">
                  <c:v>46048</c:v>
                </c:pt>
                <c:pt idx="16">
                  <c:v>46079</c:v>
                </c:pt>
                <c:pt idx="17">
                  <c:v>46107</c:v>
                </c:pt>
                <c:pt idx="18">
                  <c:v>46138</c:v>
                </c:pt>
              </c:numCache>
            </c:num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14.77</c:v>
                </c:pt>
                <c:pt idx="1">
                  <c:v>15.27</c:v>
                </c:pt>
                <c:pt idx="2">
                  <c:v>15.44</c:v>
                </c:pt>
                <c:pt idx="3">
                  <c:v>15.15</c:v>
                </c:pt>
                <c:pt idx="4">
                  <c:v>14.39</c:v>
                </c:pt>
                <c:pt idx="5">
                  <c:v>15.38</c:v>
                </c:pt>
                <c:pt idx="6">
                  <c:v>15.64</c:v>
                </c:pt>
                <c:pt idx="7">
                  <c:v>15.13</c:v>
                </c:pt>
                <c:pt idx="8">
                  <c:v>15.4</c:v>
                </c:pt>
                <c:pt idx="9">
                  <c:v>14.92</c:v>
                </c:pt>
                <c:pt idx="10">
                  <c:v>14.41</c:v>
                </c:pt>
                <c:pt idx="11">
                  <c:v>14.71</c:v>
                </c:pt>
                <c:pt idx="12">
                  <c:v>14.72</c:v>
                </c:pt>
                <c:pt idx="13">
                  <c:v>14.67</c:v>
                </c:pt>
                <c:pt idx="14">
                  <c:v>15.42</c:v>
                </c:pt>
                <c:pt idx="15">
                  <c:v>14.86</c:v>
                </c:pt>
                <c:pt idx="16">
                  <c:v>14.84</c:v>
                </c:pt>
                <c:pt idx="17">
                  <c:v>14.63</c:v>
                </c:pt>
                <c:pt idx="18">
                  <c:v>15.93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75-4793-8B83-231A20EA9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date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Offset val="100"/>
        <c:baseTimeUnit val="days"/>
      </c:date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lineChart>
        <c:grouping val="standard"/>
        <c:varyColors val="0"/>
        <c:ser>
          <c:idx val="0"/>
          <c:order val="0"/>
          <c:tx>
            <c:v>CRV-exposed PCL clients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13.72</c:v>
              </c:pt>
              <c:pt idx="1">
                <c:v>13.89</c:v>
              </c:pt>
              <c:pt idx="2">
                <c:v>13.95</c:v>
              </c:pt>
              <c:pt idx="3">
                <c:v>14.26</c:v>
              </c:pt>
              <c:pt idx="4">
                <c:v>13.5</c:v>
              </c:pt>
              <c:pt idx="5">
                <c:v>14.68</c:v>
              </c:pt>
              <c:pt idx="6">
                <c:v>14.4</c:v>
              </c:pt>
              <c:pt idx="7">
                <c:v>14.21</c:v>
              </c:pt>
              <c:pt idx="8">
                <c:v>13.68</c:v>
              </c:pt>
              <c:pt idx="9">
                <c:v>14.16</c:v>
              </c:pt>
              <c:pt idx="10">
                <c:v>13.82</c:v>
              </c:pt>
              <c:pt idx="11">
                <c:v>14.16</c:v>
              </c:pt>
              <c:pt idx="12">
                <c:v>14.16</c:v>
              </c:pt>
              <c:pt idx="13">
                <c:v>14</c:v>
              </c:pt>
              <c:pt idx="14">
                <c:v>14.48</c:v>
              </c:pt>
              <c:pt idx="15">
                <c:v>14.19</c:v>
              </c:pt>
              <c:pt idx="16">
                <c:v>14.25</c:v>
              </c:pt>
              <c:pt idx="17">
                <c:v>13.34</c:v>
              </c:pt>
              <c:pt idx="18">
                <c:v>14.79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734-4493-9CE6-3E23C250A3C3}"/>
            </c:ext>
          </c:extLst>
        </c:ser>
        <c:ser>
          <c:idx val="1"/>
          <c:order val="1"/>
          <c:tx>
            <c:v>Comparable PCL clients (no CRV)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14.77</c:v>
              </c:pt>
              <c:pt idx="1">
                <c:v>15.27</c:v>
              </c:pt>
              <c:pt idx="2">
                <c:v>15.44</c:v>
              </c:pt>
              <c:pt idx="3">
                <c:v>15.15</c:v>
              </c:pt>
              <c:pt idx="4">
                <c:v>14.39</c:v>
              </c:pt>
              <c:pt idx="5">
                <c:v>15.38</c:v>
              </c:pt>
              <c:pt idx="6">
                <c:v>15.64</c:v>
              </c:pt>
              <c:pt idx="7">
                <c:v>15.13</c:v>
              </c:pt>
              <c:pt idx="8">
                <c:v>15.4</c:v>
              </c:pt>
              <c:pt idx="9">
                <c:v>14.92</c:v>
              </c:pt>
              <c:pt idx="10">
                <c:v>14.41</c:v>
              </c:pt>
              <c:pt idx="11">
                <c:v>14.71</c:v>
              </c:pt>
              <c:pt idx="12">
                <c:v>14.72</c:v>
              </c:pt>
              <c:pt idx="13">
                <c:v>14.67</c:v>
              </c:pt>
              <c:pt idx="14">
                <c:v>15.42</c:v>
              </c:pt>
              <c:pt idx="15">
                <c:v>14.86</c:v>
              </c:pt>
              <c:pt idx="16">
                <c:v>14.84</c:v>
              </c:pt>
              <c:pt idx="17">
                <c:v>14.63</c:v>
              </c:pt>
              <c:pt idx="18">
                <c:v>15.93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3734-4493-9CE6-3E23C250A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 wrap="square" anchor="t"/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PCL conversion is lower when clients are also exposed to CRV —</a:t>
            </a:r>
          </a:p>
          <a:p>
            <a:pPr algn="l">
              <a:defRPr sz="1200" b="1">
                <a:solidFill>
                  <a:srgbClr val="1F2937"/>
                </a:solidFill>
              </a:defRPr>
            </a:pPr>
            <a:r>
              <a:rPr lang="en-US" sz="1200" b="1">
                <a:solidFill>
                  <a:srgbClr val="1F2937"/>
                </a:solidFill>
              </a:rPr>
              <a:t>~65K conversions recoverable by discontinuing CRV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22"/>
          <c:w val="0.74"/>
          <c:h val="0.62"/>
        </c:manualLayout>
      </c:layout>
      <c:lineChart>
        <c:grouping val="standard"/>
        <c:varyColors val="0"/>
        <c:ser>
          <c:idx val="0"/>
          <c:order val="0"/>
          <c:tx>
            <c:v>CRV-exposed PCL clients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5"/>
            <c:spPr>
              <a:solidFill>
                <a:srgbClr val="C2410C"/>
              </a:solidFill>
              <a:ln>
                <a:solidFill>
                  <a:srgbClr val="C2410C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13.72</c:v>
              </c:pt>
              <c:pt idx="1">
                <c:v>13.89</c:v>
              </c:pt>
              <c:pt idx="2">
                <c:v>13.95</c:v>
              </c:pt>
              <c:pt idx="3">
                <c:v>14.26</c:v>
              </c:pt>
              <c:pt idx="4">
                <c:v>13.5</c:v>
              </c:pt>
              <c:pt idx="5">
                <c:v>14.68</c:v>
              </c:pt>
              <c:pt idx="6">
                <c:v>14.4</c:v>
              </c:pt>
              <c:pt idx="7">
                <c:v>14.21</c:v>
              </c:pt>
              <c:pt idx="8">
                <c:v>13.68</c:v>
              </c:pt>
              <c:pt idx="9">
                <c:v>14.16</c:v>
              </c:pt>
              <c:pt idx="10">
                <c:v>13.82</c:v>
              </c:pt>
              <c:pt idx="11">
                <c:v>14.16</c:v>
              </c:pt>
              <c:pt idx="12">
                <c:v>14.16</c:v>
              </c:pt>
              <c:pt idx="13">
                <c:v>14</c:v>
              </c:pt>
              <c:pt idx="14">
                <c:v>14.48</c:v>
              </c:pt>
              <c:pt idx="15">
                <c:v>14.19</c:v>
              </c:pt>
              <c:pt idx="16">
                <c:v>14.25</c:v>
              </c:pt>
              <c:pt idx="17">
                <c:v>13.34</c:v>
              </c:pt>
              <c:pt idx="18">
                <c:v>14.79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DAA6-45CE-B2EE-CEA85B71E990}"/>
            </c:ext>
          </c:extLst>
        </c:ser>
        <c:ser>
          <c:idx val="1"/>
          <c:order val="1"/>
          <c:tx>
            <c:v>Comparable PCL clients (no CRV)</c:v>
          </c:tx>
          <c:spPr>
            <a:ln w="28575">
              <a:solidFill>
                <a:srgbClr val="1F4E79"/>
              </a:solidFill>
            </a:ln>
          </c:spPr>
          <c:marker>
            <c:symbol val="circle"/>
            <c:size val="5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Lit>
              <c:ptCount val="19"/>
              <c:pt idx="0">
                <c:v>Oct 24</c:v>
              </c:pt>
              <c:pt idx="1">
                <c:v>Nov 24</c:v>
              </c:pt>
              <c:pt idx="2">
                <c:v>Dec 24</c:v>
              </c:pt>
              <c:pt idx="3">
                <c:v>Jan 25</c:v>
              </c:pt>
              <c:pt idx="4">
                <c:v>Feb 25</c:v>
              </c:pt>
              <c:pt idx="5">
                <c:v>Mar 25</c:v>
              </c:pt>
              <c:pt idx="6">
                <c:v>Apr 25</c:v>
              </c:pt>
              <c:pt idx="7">
                <c:v>May 25</c:v>
              </c:pt>
              <c:pt idx="8">
                <c:v>Jun 25</c:v>
              </c:pt>
              <c:pt idx="9">
                <c:v>Jul 25</c:v>
              </c:pt>
              <c:pt idx="10">
                <c:v>Aug 25</c:v>
              </c:pt>
              <c:pt idx="11">
                <c:v>Sep 25</c:v>
              </c:pt>
              <c:pt idx="12">
                <c:v>Oct 25</c:v>
              </c:pt>
              <c:pt idx="13">
                <c:v>Nov 25</c:v>
              </c:pt>
              <c:pt idx="14">
                <c:v>Dec 25</c:v>
              </c:pt>
              <c:pt idx="15">
                <c:v>Jan 26</c:v>
              </c:pt>
              <c:pt idx="16">
                <c:v>Feb 26</c:v>
              </c:pt>
              <c:pt idx="17">
                <c:v>Mar 26</c:v>
              </c:pt>
              <c:pt idx="18">
                <c:v>Apr 26</c:v>
              </c:pt>
            </c:strLit>
          </c:cat>
          <c:val>
            <c:numLit>
              <c:formatCode>General</c:formatCode>
              <c:ptCount val="19"/>
              <c:pt idx="0">
                <c:v>14.77</c:v>
              </c:pt>
              <c:pt idx="1">
                <c:v>15.27</c:v>
              </c:pt>
              <c:pt idx="2">
                <c:v>15.44</c:v>
              </c:pt>
              <c:pt idx="3">
                <c:v>15.15</c:v>
              </c:pt>
              <c:pt idx="4">
                <c:v>14.39</c:v>
              </c:pt>
              <c:pt idx="5">
                <c:v>15.38</c:v>
              </c:pt>
              <c:pt idx="6">
                <c:v>15.64</c:v>
              </c:pt>
              <c:pt idx="7">
                <c:v>15.13</c:v>
              </c:pt>
              <c:pt idx="8">
                <c:v>15.4</c:v>
              </c:pt>
              <c:pt idx="9">
                <c:v>14.92</c:v>
              </c:pt>
              <c:pt idx="10">
                <c:v>14.41</c:v>
              </c:pt>
              <c:pt idx="11">
                <c:v>14.71</c:v>
              </c:pt>
              <c:pt idx="12">
                <c:v>14.72</c:v>
              </c:pt>
              <c:pt idx="13">
                <c:v>14.67</c:v>
              </c:pt>
              <c:pt idx="14">
                <c:v>15.42</c:v>
              </c:pt>
              <c:pt idx="15">
                <c:v>14.86</c:v>
              </c:pt>
              <c:pt idx="16">
                <c:v>14.84</c:v>
              </c:pt>
              <c:pt idx="17">
                <c:v>14.63</c:v>
              </c:pt>
              <c:pt idx="18">
                <c:v>15.93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DAA6-45CE-B2EE-CEA85B71E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1800000"/>
          <a:lstStyle/>
          <a:p>
            <a:pPr>
              <a:defRPr sz="900">
                <a:solidFill>
                  <a:srgbClr val="37415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8"/>
          <c:min val="11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7415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3117-E683-4DC7-2964-DAC2B0B32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5DEDC-01E9-F746-BAEC-08E88F0AB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0A43E-9F79-ED90-FFA3-4A8F38A0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4796B-77A3-6D83-75A7-42FD3EBB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59E3-32A3-16FA-C1AE-28AF61E7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83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C9716-B229-9BEB-5EF6-C872FC9A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7AE2-349F-10A6-8EA2-A206602FE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B28E3-F406-FE1A-25E7-5F29D632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8BE8-F99E-8DC1-810C-6E67D6F88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069F0-2390-1781-B189-17B16D51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4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10FB-779E-AC8D-5835-0EAFF226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548B5-30D5-2BE0-D6EA-798308281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0E86E-FEB8-7D11-B0CC-09B2C991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DE37-E349-BD01-60F5-C4597C042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D970-36DE-C372-E4A6-D965CE8C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15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0D9E-2176-7D38-0B04-9B386DA4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F720-FA57-F5B4-88C1-079CF18D8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F17E5-C34B-DDD9-80F7-DCBF00BD4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4F114-A140-8A94-CE87-360FC429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DE154-1C15-6859-1863-DC52FF03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702E5-10EA-FAA6-4DD0-910931D5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7699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5397-AA62-2C29-266A-D9AAEC68A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26959-ED21-C4E9-0134-5D15CE30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BE24F-5F74-7F30-F627-652C9972C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EBA16-802E-7CF0-8EEE-405C64D7D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FA9F5-6BA1-1A3C-4A83-2A5F4D2FB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A7EFF-50AC-710D-182C-9061EA42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9E71A-BACA-0A0F-A63F-48DF9F59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B4E21-6CF3-66FA-9854-BAFACC3B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06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A729-07BE-9624-87BE-AD7FE7B3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9F6A6-3DCC-CEE4-E27F-00B0510A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5B84-4A24-9D79-1BD1-C2070076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45A51-DDF9-6D3D-CAA8-91D2815D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25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59642-BFB5-6AB9-B517-5784C4E7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79E39-DE4C-3C6A-396F-6155CCD2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385C8-6DF5-6814-2E5F-41D7C87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7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41374-889E-92EC-3D37-D2827A14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FBD8E-355A-F71E-3196-B4720C642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6B1F-9361-6367-3F0D-8AFD3B0FA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68D96-77DE-DC53-EA6A-E615D8C1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E31C-7410-1794-F183-92F373BB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FF5F3-9868-788C-80A2-7F476BA6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13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2EA0-B645-F263-11F6-BF7F3F8A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BB80B9-9BD9-F183-5F8E-F6751252B9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B84E4-707F-73CA-613D-9906A74BC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017E0-0BD0-61F9-5D06-5879641C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0B18B-48EA-BB20-C1E1-226825D4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7C44-08B9-205F-6974-D1E62922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40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8AB4-0DB9-2E7C-8303-541EC735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50B1C-5BE9-D7B4-A488-48E20F57C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7E2-B0F2-265E-1F10-C167FFF4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CC25-39C7-D88F-781E-25B9968B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D5EB-7ABE-388E-B3D0-7D213FB2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22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865AB-0505-4989-B0C5-E154D5BAC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FDD84-85D3-3FBB-CBE1-FEE17A118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C5286-294F-7DF5-92EC-ED4D91A9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E9258-EF4A-C55B-F297-1B1886F8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1424-CA47-2C1D-FF47-62E0DCE0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934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D6761-7E37-353F-BC71-E1C61E65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393DB-9B0F-79D1-B613-D9FD91A1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E4784-CBBD-0EFB-2A14-0622A1A73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22AFB-265F-403F-99DA-B9FBAAE05443}" type="datetimeFigureOut">
              <a:rPr lang="en-CA" smtClean="0"/>
              <a:t>2026-05-14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1F6AA-B25E-52E8-9830-41210BCE8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1EE3-07C2-837D-08DB-4FDD66788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91FF8-9F07-4B72-B805-1D539833FEA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12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Bar">
            <a:extLst>
              <a:ext uri="{FF2B5EF4-FFF2-40B4-BE49-F238E27FC236}">
                <a16:creationId xmlns:a16="http://schemas.microsoft.com/office/drawing/2014/main" id="{88BF951B-A00D-40D3-95A4-0DD312467422}"/>
              </a:ext>
            </a:extLst>
          </p:cNvPr>
          <p:cNvSpPr txBox="1"/>
          <p:nvPr/>
        </p:nvSpPr>
        <p:spPr>
          <a:xfrm>
            <a:off x="381000" y="279400"/>
            <a:ext cx="1143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CRV cuts PCL response by 0.85 pp on the in-app banner.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4" name="Subtitle">
            <a:extLst>
              <a:ext uri="{FF2B5EF4-FFF2-40B4-BE49-F238E27FC236}">
                <a16:creationId xmlns:a16="http://schemas.microsoft.com/office/drawing/2014/main" id="{74A59157-6847-4CEB-B740-62B8ECA08032}"/>
              </a:ext>
            </a:extLst>
          </p:cNvPr>
          <p:cNvSpPr txBox="1"/>
          <p:nvPr/>
        </p:nvSpPr>
        <p:spPr>
          <a:xfrm>
            <a:off x="381000" y="660400"/>
            <a:ext cx="1143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B5563"/>
                </a:solidFill>
              </a:rPr>
              <a:t>The other 3.5 pp of the headline gap is selection — CRV-eligible clients convert lower on PCL even when held out.</a:t>
            </a:r>
            <a:endParaRPr lang="en-CA" sz="1400">
              <a:solidFill>
                <a:srgbClr val="4B5563"/>
              </a:solidFill>
            </a:endParaRPr>
          </a:p>
        </p:txBody>
      </p:sp>
      <p:sp>
        <p:nvSpPr>
          <p:cNvPr id="35" name="Footer">
            <a:extLst>
              <a:ext uri="{FF2B5EF4-FFF2-40B4-BE49-F238E27FC236}">
                <a16:creationId xmlns:a16="http://schemas.microsoft.com/office/drawing/2014/main" id="{B2125A00-FB05-4C80-A2D2-F7B803FF1879}"/>
              </a:ext>
            </a:extLst>
          </p:cNvPr>
          <p:cNvSpPr txBox="1"/>
          <p:nvPr/>
        </p:nvSpPr>
        <p:spPr>
          <a:xfrm>
            <a:off x="381000" y="6477000"/>
            <a:ext cx="1143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section E.  Period: Oct 2024 – May 2026.  Channel: IM (mobile in-app banner).  Cohort: 11.0M PCL-IM events, 7.4M with CRV Action overlap, 385K with CRV Control overlap.</a:t>
            </a:r>
          </a:p>
        </p:txBody>
      </p:sp>
      <p:graphicFrame>
        <p:nvGraphicFramePr>
          <p:cNvPr id="500" name="HeroLineChart"/>
          <p:cNvGraphicFramePr/>
          <p:nvPr>
            <p:extLst>
              <p:ext uri="{D42A27DB-BD31-4B8C-83A1-F6EECF244321}">
                <p14:modId xmlns:p14="http://schemas.microsoft.com/office/powerpoint/2010/main" val="756766903"/>
              </p:ext>
            </p:extLst>
          </p:nvPr>
        </p:nvGraphicFramePr>
        <p:xfrm>
          <a:off x="381000" y="1117600"/>
          <a:ext cx="11303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2B0E90-ACA1-49AC-8302-4A5316FC2194}"/>
              </a:ext>
            </a:extLst>
          </p:cNvPr>
          <p:cNvSpPr txBox="1"/>
          <p:nvPr/>
        </p:nvSpPr>
        <p:spPr>
          <a:xfrm>
            <a:off x="7683500" y="27686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6B7280"/>
                </a:solidFill>
              </a:rPr>
              <a:t>Not in CRV
18.4% avg</a:t>
            </a:r>
            <a:endParaRPr lang="en-CA" sz="1100" b="1">
              <a:solidFill>
                <a:srgbClr val="6B728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BECF6-EA8E-4E7A-AA24-88B23D40C427}"/>
              </a:ext>
            </a:extLst>
          </p:cNvPr>
          <p:cNvSpPr txBox="1"/>
          <p:nvPr/>
        </p:nvSpPr>
        <p:spPr>
          <a:xfrm>
            <a:off x="7683500" y="4064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0E7C86"/>
                </a:solidFill>
              </a:rPr>
              <a:t>CRV-eligible, held out
14.7%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A357D-0F06-4A84-A7C0-0BD66BF33DA3}"/>
              </a:ext>
            </a:extLst>
          </p:cNvPr>
          <p:cNvSpPr txBox="1"/>
          <p:nvPr/>
        </p:nvSpPr>
        <p:spPr>
          <a:xfrm>
            <a:off x="7683500" y="4445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C2410C"/>
                </a:solidFill>
              </a:rPr>
              <a:t>CRV-exposed
14.4%</a:t>
            </a:r>
          </a:p>
        </p:txBody>
      </p:sp>
      <p:sp>
        <p:nvSpPr>
          <p:cNvPr id="5" name="T1bg">
            <a:extLst>
              <a:ext uri="{FF2B5EF4-FFF2-40B4-BE49-F238E27FC236}">
                <a16:creationId xmlns:a16="http://schemas.microsoft.com/office/drawing/2014/main" id="{4EDCF172-E7A9-4517-B056-B389A96CA7A9}"/>
              </a:ext>
            </a:extLst>
          </p:cNvPr>
          <p:cNvSpPr/>
          <p:nvPr/>
        </p:nvSpPr>
        <p:spPr>
          <a:xfrm>
            <a:off x="7683500" y="5143500"/>
            <a:ext cx="4000500" cy="5080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48CE-F8B9-498C-A4AC-843896CC928F}"/>
              </a:ext>
            </a:extLst>
          </p:cNvPr>
          <p:cNvSpPr txBox="1"/>
          <p:nvPr/>
        </p:nvSpPr>
        <p:spPr>
          <a:xfrm>
            <a:off x="7810500" y="5245100"/>
            <a:ext cx="101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b="1">
                <a:solidFill>
                  <a:srgbClr val="6B7280"/>
                </a:solidFill>
              </a:rPr>
              <a:t>4.3 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2B267-AB3A-425D-B0EE-52F1C22B5643}"/>
              </a:ext>
            </a:extLst>
          </p:cNvPr>
          <p:cNvSpPr txBox="1"/>
          <p:nvPr/>
        </p:nvSpPr>
        <p:spPr>
          <a:xfrm>
            <a:off x="8890000" y="5194300"/>
            <a:ext cx="2667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Headline gap (Not-in-CRV vs CRV-exposed)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BDC7C-19F8-49E0-9648-0AB930B810EE}"/>
              </a:ext>
            </a:extLst>
          </p:cNvPr>
          <p:cNvSpPr/>
          <p:nvPr/>
        </p:nvSpPr>
        <p:spPr>
          <a:xfrm>
            <a:off x="7683500" y="5727700"/>
            <a:ext cx="4000500" cy="355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56CC9-DB7B-436D-B606-E83FAC09907D}"/>
              </a:ext>
            </a:extLst>
          </p:cNvPr>
          <p:cNvSpPr txBox="1"/>
          <p:nvPr/>
        </p:nvSpPr>
        <p:spPr>
          <a:xfrm>
            <a:off x="7810500" y="5778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400" b="1">
                <a:solidFill>
                  <a:srgbClr val="9CA3AF"/>
                </a:solidFill>
              </a:rPr>
              <a:t>3.5 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60A56-E081-4D5E-94A7-7B5807BB94EE}"/>
              </a:ext>
            </a:extLst>
          </p:cNvPr>
          <p:cNvSpPr txBox="1"/>
          <p:nvPr/>
        </p:nvSpPr>
        <p:spPr>
          <a:xfrm>
            <a:off x="8890000" y="57785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Selection — these clients convert lower anyway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429AD-A5E7-489E-818E-EA2EA0FB89C0}"/>
              </a:ext>
            </a:extLst>
          </p:cNvPr>
          <p:cNvSpPr/>
          <p:nvPr/>
        </p:nvSpPr>
        <p:spPr>
          <a:xfrm>
            <a:off x="7683500" y="6159500"/>
            <a:ext cx="4000500" cy="355600"/>
          </a:xfrm>
          <a:prstGeom prst="rect">
            <a:avLst/>
          </a:prstGeom>
          <a:solidFill>
            <a:srgbClr val="FFF7ED"/>
          </a:solidFill>
          <a:ln w="12700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85DE4-C611-4517-AACC-1BA2D23717F5}"/>
              </a:ext>
            </a:extLst>
          </p:cNvPr>
          <p:cNvSpPr txBox="1"/>
          <p:nvPr/>
        </p:nvSpPr>
        <p:spPr>
          <a:xfrm>
            <a:off x="7810500" y="62103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400" b="1">
                <a:solidFill>
                  <a:srgbClr val="C2410C"/>
                </a:solidFill>
              </a:rPr>
              <a:t>0.85 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E1995-8E01-4DF3-9CCB-9E351A1C895B}"/>
              </a:ext>
            </a:extLst>
          </p:cNvPr>
          <p:cNvSpPr txBox="1"/>
          <p:nvPr/>
        </p:nvSpPr>
        <p:spPr>
          <a:xfrm>
            <a:off x="8890000" y="62103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</a:rPr>
              <a:t>CRV's true cost on PCL (Action vs Control)</a:t>
            </a:r>
            <a:endParaRPr lang="en-CA" sz="1000" b="1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86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C549-E1AE-7C01-49C5-E93883B2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ar">
            <a:extLst>
              <a:ext uri="{FF2B5EF4-FFF2-40B4-BE49-F238E27FC236}">
                <a16:creationId xmlns:a16="http://schemas.microsoft.com/office/drawing/2014/main" id="{560459AC-680B-9D21-45BB-D714D75D94D1}"/>
              </a:ext>
            </a:extLst>
          </p:cNvPr>
          <p:cNvSpPr txBox="1"/>
          <p:nvPr/>
        </p:nvSpPr>
        <p:spPr>
          <a:xfrm>
            <a:off x="381000" y="228600"/>
            <a:ext cx="1143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F2937"/>
                </a:solidFill>
              </a:rPr>
              <a:t>CRV cannibalizes PCL on the mobile in-app banner — but selection bias inflates the headline</a:t>
            </a:r>
            <a:endParaRPr lang="en-CA" sz="2000" b="1">
              <a:solidFill>
                <a:srgbClr val="1F2937"/>
              </a:solidFill>
            </a:endParaRPr>
          </a:p>
        </p:txBody>
      </p:sp>
      <p:sp>
        <p:nvSpPr>
          <p:cNvPr id="5" name="KPI_0_bg">
            <a:extLst>
              <a:ext uri="{FF2B5EF4-FFF2-40B4-BE49-F238E27FC236}">
                <a16:creationId xmlns:a16="http://schemas.microsoft.com/office/drawing/2014/main" id="{D0393A4C-8D48-9AB0-7523-BBA68E0639C5}"/>
              </a:ext>
            </a:extLst>
          </p:cNvPr>
          <p:cNvSpPr/>
          <p:nvPr/>
        </p:nvSpPr>
        <p:spPr>
          <a:xfrm>
            <a:off x="38100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6" name="KPI_0_strip">
            <a:extLst>
              <a:ext uri="{FF2B5EF4-FFF2-40B4-BE49-F238E27FC236}">
                <a16:creationId xmlns:a16="http://schemas.microsoft.com/office/drawing/2014/main" id="{CCB3A9E2-E2C5-2A04-5B7B-24A70327B789}"/>
              </a:ext>
            </a:extLst>
          </p:cNvPr>
          <p:cNvSpPr/>
          <p:nvPr/>
        </p:nvSpPr>
        <p:spPr>
          <a:xfrm>
            <a:off x="38100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KPI_0_big">
            <a:extLst>
              <a:ext uri="{FF2B5EF4-FFF2-40B4-BE49-F238E27FC236}">
                <a16:creationId xmlns:a16="http://schemas.microsoft.com/office/drawing/2014/main" id="{AC265E79-6535-27BE-B31E-7F605822EA98}"/>
              </a:ext>
            </a:extLst>
          </p:cNvPr>
          <p:cNvSpPr txBox="1"/>
          <p:nvPr/>
        </p:nvSpPr>
        <p:spPr>
          <a:xfrm>
            <a:off x="50800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67%</a:t>
            </a:r>
          </a:p>
        </p:txBody>
      </p:sp>
      <p:sp>
        <p:nvSpPr>
          <p:cNvPr id="8" name="KPI_0_small">
            <a:extLst>
              <a:ext uri="{FF2B5EF4-FFF2-40B4-BE49-F238E27FC236}">
                <a16:creationId xmlns:a16="http://schemas.microsoft.com/office/drawing/2014/main" id="{74BAFD9D-AD53-2406-507D-CA2653040134}"/>
              </a:ext>
            </a:extLst>
          </p:cNvPr>
          <p:cNvSpPr txBox="1"/>
          <p:nvPr/>
        </p:nvSpPr>
        <p:spPr>
          <a:xfrm>
            <a:off x="50800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of PCL-IM clients also exposed to CRV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9" name="KPI_1_bg">
            <a:extLst>
              <a:ext uri="{FF2B5EF4-FFF2-40B4-BE49-F238E27FC236}">
                <a16:creationId xmlns:a16="http://schemas.microsoft.com/office/drawing/2014/main" id="{AB633FF3-FC5A-B37E-97BF-0C1129E27647}"/>
              </a:ext>
            </a:extLst>
          </p:cNvPr>
          <p:cNvSpPr/>
          <p:nvPr/>
        </p:nvSpPr>
        <p:spPr>
          <a:xfrm>
            <a:off x="327025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KPI_1_strip">
            <a:extLst>
              <a:ext uri="{FF2B5EF4-FFF2-40B4-BE49-F238E27FC236}">
                <a16:creationId xmlns:a16="http://schemas.microsoft.com/office/drawing/2014/main" id="{5376034B-7E0A-F190-EC83-E9BDF26027AD}"/>
              </a:ext>
            </a:extLst>
          </p:cNvPr>
          <p:cNvSpPr/>
          <p:nvPr/>
        </p:nvSpPr>
        <p:spPr>
          <a:xfrm>
            <a:off x="327025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1" name="KPI_1_big">
            <a:extLst>
              <a:ext uri="{FF2B5EF4-FFF2-40B4-BE49-F238E27FC236}">
                <a16:creationId xmlns:a16="http://schemas.microsoft.com/office/drawing/2014/main" id="{2826B1C4-E2AE-F6DF-4E69-0D292599BBF6}"/>
              </a:ext>
            </a:extLst>
          </p:cNvPr>
          <p:cNvSpPr txBox="1"/>
          <p:nvPr/>
        </p:nvSpPr>
        <p:spPr>
          <a:xfrm>
            <a:off x="339725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0.85 pp</a:t>
            </a:r>
          </a:p>
        </p:txBody>
      </p:sp>
      <p:sp>
        <p:nvSpPr>
          <p:cNvPr id="12" name="KPI_1_small">
            <a:extLst>
              <a:ext uri="{FF2B5EF4-FFF2-40B4-BE49-F238E27FC236}">
                <a16:creationId xmlns:a16="http://schemas.microsoft.com/office/drawing/2014/main" id="{3987E493-7BA6-2CE1-97A9-FA6762297191}"/>
              </a:ext>
            </a:extLst>
          </p:cNvPr>
          <p:cNvSpPr txBox="1"/>
          <p:nvPr/>
        </p:nvSpPr>
        <p:spPr>
          <a:xfrm>
            <a:off x="339725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PCL response rate lost to CRV (Action vs Control)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3" name="KPI_2_bg">
            <a:extLst>
              <a:ext uri="{FF2B5EF4-FFF2-40B4-BE49-F238E27FC236}">
                <a16:creationId xmlns:a16="http://schemas.microsoft.com/office/drawing/2014/main" id="{DAE0373E-DA4B-77D3-855E-BCE8CC8CFA2E}"/>
              </a:ext>
            </a:extLst>
          </p:cNvPr>
          <p:cNvSpPr/>
          <p:nvPr/>
        </p:nvSpPr>
        <p:spPr>
          <a:xfrm>
            <a:off x="615950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4" name="KPI_2_strip">
            <a:extLst>
              <a:ext uri="{FF2B5EF4-FFF2-40B4-BE49-F238E27FC236}">
                <a16:creationId xmlns:a16="http://schemas.microsoft.com/office/drawing/2014/main" id="{3C2D4831-7A3E-2806-35B5-C6EF929ECF45}"/>
              </a:ext>
            </a:extLst>
          </p:cNvPr>
          <p:cNvSpPr/>
          <p:nvPr/>
        </p:nvSpPr>
        <p:spPr>
          <a:xfrm>
            <a:off x="6159500" y="787400"/>
            <a:ext cx="50800" cy="8128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5" name="KPI_2_big">
            <a:extLst>
              <a:ext uri="{FF2B5EF4-FFF2-40B4-BE49-F238E27FC236}">
                <a16:creationId xmlns:a16="http://schemas.microsoft.com/office/drawing/2014/main" id="{BE54D5D7-85B4-2400-F128-09EFBADE3C26}"/>
              </a:ext>
            </a:extLst>
          </p:cNvPr>
          <p:cNvSpPr txBox="1"/>
          <p:nvPr/>
        </p:nvSpPr>
        <p:spPr>
          <a:xfrm>
            <a:off x="628650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B45309"/>
                </a:solidFill>
              </a:rPr>
              <a:t>~65K</a:t>
            </a:r>
          </a:p>
        </p:txBody>
      </p:sp>
      <p:sp>
        <p:nvSpPr>
          <p:cNvPr id="16" name="KPI_2_small">
            <a:extLst>
              <a:ext uri="{FF2B5EF4-FFF2-40B4-BE49-F238E27FC236}">
                <a16:creationId xmlns:a16="http://schemas.microsoft.com/office/drawing/2014/main" id="{0ED15BC5-145B-ED6C-F1A4-AF3348E0C551}"/>
              </a:ext>
            </a:extLst>
          </p:cNvPr>
          <p:cNvSpPr txBox="1"/>
          <p:nvPr/>
        </p:nvSpPr>
        <p:spPr>
          <a:xfrm>
            <a:off x="628650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PCL conversions lost over 20 months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17" name="KPI_3_bg">
            <a:extLst>
              <a:ext uri="{FF2B5EF4-FFF2-40B4-BE49-F238E27FC236}">
                <a16:creationId xmlns:a16="http://schemas.microsoft.com/office/drawing/2014/main" id="{7144DBD0-FB9A-4351-34B6-A37DBC73CAFF}"/>
              </a:ext>
            </a:extLst>
          </p:cNvPr>
          <p:cNvSpPr/>
          <p:nvPr/>
        </p:nvSpPr>
        <p:spPr>
          <a:xfrm>
            <a:off x="9048750" y="787400"/>
            <a:ext cx="2762250" cy="8128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8" name="KPI_3_strip">
            <a:extLst>
              <a:ext uri="{FF2B5EF4-FFF2-40B4-BE49-F238E27FC236}">
                <a16:creationId xmlns:a16="http://schemas.microsoft.com/office/drawing/2014/main" id="{0117075F-964A-74FB-E0A9-98B6F50BE06B}"/>
              </a:ext>
            </a:extLst>
          </p:cNvPr>
          <p:cNvSpPr/>
          <p:nvPr/>
        </p:nvSpPr>
        <p:spPr>
          <a:xfrm>
            <a:off x="9048750" y="787400"/>
            <a:ext cx="50800" cy="812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9" name="KPI_3_big">
            <a:extLst>
              <a:ext uri="{FF2B5EF4-FFF2-40B4-BE49-F238E27FC236}">
                <a16:creationId xmlns:a16="http://schemas.microsoft.com/office/drawing/2014/main" id="{E36BCF3A-B78C-50A7-D204-AA9636E50858}"/>
              </a:ext>
            </a:extLst>
          </p:cNvPr>
          <p:cNvSpPr txBox="1"/>
          <p:nvPr/>
        </p:nvSpPr>
        <p:spPr>
          <a:xfrm>
            <a:off x="9175750" y="838200"/>
            <a:ext cx="25590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2000" b="1">
                <a:solidFill>
                  <a:srgbClr val="1F4E79"/>
                </a:solidFill>
              </a:rPr>
              <a:t>20 of 20</a:t>
            </a:r>
          </a:p>
        </p:txBody>
      </p:sp>
      <p:sp>
        <p:nvSpPr>
          <p:cNvPr id="20" name="KPI_3_small">
            <a:extLst>
              <a:ext uri="{FF2B5EF4-FFF2-40B4-BE49-F238E27FC236}">
                <a16:creationId xmlns:a16="http://schemas.microsoft.com/office/drawing/2014/main" id="{4BA8EEA0-94CF-0E74-D00E-6DE19806491A}"/>
              </a:ext>
            </a:extLst>
          </p:cNvPr>
          <p:cNvSpPr txBox="1"/>
          <p:nvPr/>
        </p:nvSpPr>
        <p:spPr>
          <a:xfrm>
            <a:off x="9175750" y="1193800"/>
            <a:ext cx="255905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>
                <a:solidFill>
                  <a:srgbClr val="374151"/>
                </a:solidFill>
              </a:rPr>
              <a:t>months show consistent cannibalization</a:t>
            </a:r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6C1663C0-37D8-7773-C215-D704F2573909}"/>
              </a:ext>
            </a:extLst>
          </p:cNvPr>
          <p:cNvSpPr txBox="1"/>
          <p:nvPr/>
        </p:nvSpPr>
        <p:spPr>
          <a:xfrm>
            <a:off x="381000" y="6375400"/>
            <a:ext cx="1143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section E.  Period: Oct 2024 – May 2026.  Channel: IM (mobile in-app banner).  Cohort: 11.0M PCL-IM events, 7.4M with CRV Action overlap, 385K with CRV Control overlap.  Recommendation: pair this with CRV-side conversion volume to decide on discontinue.</a:t>
            </a:r>
          </a:p>
        </p:txBody>
      </p:sp>
      <p:graphicFrame>
        <p:nvGraphicFramePr>
          <p:cNvPr id="500" name="MainLineChart">
            <a:extLst>
              <a:ext uri="{FF2B5EF4-FFF2-40B4-BE49-F238E27FC236}">
                <a16:creationId xmlns:a16="http://schemas.microsoft.com/office/drawing/2014/main" id="{F214446E-8DFB-68C2-898B-A23D8B32E49D}"/>
              </a:ext>
            </a:extLst>
          </p:cNvPr>
          <p:cNvGraphicFramePr/>
          <p:nvPr/>
        </p:nvGraphicFramePr>
        <p:xfrm>
          <a:off x="381000" y="1778000"/>
          <a:ext cx="736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DecompTitle">
            <a:extLst>
              <a:ext uri="{FF2B5EF4-FFF2-40B4-BE49-F238E27FC236}">
                <a16:creationId xmlns:a16="http://schemas.microsoft.com/office/drawing/2014/main" id="{3CEF0996-D72E-9451-537A-6238825F0708}"/>
              </a:ext>
            </a:extLst>
          </p:cNvPr>
          <p:cNvSpPr txBox="1"/>
          <p:nvPr/>
        </p:nvSpPr>
        <p:spPr>
          <a:xfrm>
            <a:off x="7937500" y="1778000"/>
            <a:ext cx="3873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</a:rPr>
              <a:t>Decomposing the 4.3 pp gap</a:t>
            </a:r>
            <a:endParaRPr lang="en-CA" sz="1400" b="1">
              <a:solidFill>
                <a:srgbClr val="1F2937"/>
              </a:solidFill>
            </a:endParaRPr>
          </a:p>
        </p:txBody>
      </p:sp>
      <p:sp>
        <p:nvSpPr>
          <p:cNvPr id="3" name="DecompSub">
            <a:extLst>
              <a:ext uri="{FF2B5EF4-FFF2-40B4-BE49-F238E27FC236}">
                <a16:creationId xmlns:a16="http://schemas.microsoft.com/office/drawing/2014/main" id="{A7191A61-7E77-69E9-891B-17E9FCB530AE}"/>
              </a:ext>
            </a:extLst>
          </p:cNvPr>
          <p:cNvSpPr txBox="1"/>
          <p:nvPr/>
        </p:nvSpPr>
        <p:spPr>
          <a:xfrm>
            <a:off x="7937500" y="2057400"/>
            <a:ext cx="38735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6B7280"/>
                </a:solidFill>
              </a:rPr>
              <a:t>Action vs No-overlap, average PCL response rate gap</a:t>
            </a:r>
            <a:endParaRPr lang="en-CA" sz="1000">
              <a:solidFill>
                <a:srgbClr val="6B7280"/>
              </a:solidFill>
            </a:endParaRPr>
          </a:p>
        </p:txBody>
      </p:sp>
      <p:sp>
        <p:nvSpPr>
          <p:cNvPr id="22" name="CannBar">
            <a:extLst>
              <a:ext uri="{FF2B5EF4-FFF2-40B4-BE49-F238E27FC236}">
                <a16:creationId xmlns:a16="http://schemas.microsoft.com/office/drawing/2014/main" id="{08840815-C70E-8F87-C2E9-391AFD595B30}"/>
              </a:ext>
            </a:extLst>
          </p:cNvPr>
          <p:cNvSpPr/>
          <p:nvPr/>
        </p:nvSpPr>
        <p:spPr>
          <a:xfrm>
            <a:off x="7937500" y="2590800"/>
            <a:ext cx="756890" cy="5588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1400" b="1">
                <a:solidFill>
                  <a:srgbClr val="FFFFFF"/>
                </a:solidFill>
              </a:rPr>
              <a:t>0.85 pp</a:t>
            </a:r>
          </a:p>
        </p:txBody>
      </p:sp>
      <p:sp>
        <p:nvSpPr>
          <p:cNvPr id="23" name="SelBar">
            <a:extLst>
              <a:ext uri="{FF2B5EF4-FFF2-40B4-BE49-F238E27FC236}">
                <a16:creationId xmlns:a16="http://schemas.microsoft.com/office/drawing/2014/main" id="{C39A3E39-8150-45D1-292C-0A2E52622653}"/>
              </a:ext>
            </a:extLst>
          </p:cNvPr>
          <p:cNvSpPr/>
          <p:nvPr/>
        </p:nvSpPr>
        <p:spPr>
          <a:xfrm>
            <a:off x="8694390" y="2590800"/>
            <a:ext cx="3116609" cy="5588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CA" sz="1400" b="1">
                <a:solidFill>
                  <a:srgbClr val="FFFFFF"/>
                </a:solidFill>
              </a:rPr>
              <a:t>3.5 pp</a:t>
            </a:r>
          </a:p>
        </p:txBody>
      </p:sp>
      <p:sp>
        <p:nvSpPr>
          <p:cNvPr id="24" name="Sw1">
            <a:extLst>
              <a:ext uri="{FF2B5EF4-FFF2-40B4-BE49-F238E27FC236}">
                <a16:creationId xmlns:a16="http://schemas.microsoft.com/office/drawing/2014/main" id="{A0DC202E-EABD-E84D-E2E3-2D21CA5433D1}"/>
              </a:ext>
            </a:extLst>
          </p:cNvPr>
          <p:cNvSpPr/>
          <p:nvPr/>
        </p:nvSpPr>
        <p:spPr>
          <a:xfrm>
            <a:off x="7937500" y="3378200"/>
            <a:ext cx="152400" cy="1524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5" name="R1Title">
            <a:extLst>
              <a:ext uri="{FF2B5EF4-FFF2-40B4-BE49-F238E27FC236}">
                <a16:creationId xmlns:a16="http://schemas.microsoft.com/office/drawing/2014/main" id="{157A6DDF-A410-AF10-CC30-D89D713BC388}"/>
              </a:ext>
            </a:extLst>
          </p:cNvPr>
          <p:cNvSpPr txBox="1"/>
          <p:nvPr/>
        </p:nvSpPr>
        <p:spPr>
          <a:xfrm>
            <a:off x="8191500" y="3327400"/>
            <a:ext cx="3619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2937"/>
                </a:solidFill>
              </a:rPr>
              <a:t>Cannibalization — actionable</a:t>
            </a:r>
          </a:p>
        </p:txBody>
      </p:sp>
      <p:sp>
        <p:nvSpPr>
          <p:cNvPr id="26" name="R1Desc">
            <a:extLst>
              <a:ext uri="{FF2B5EF4-FFF2-40B4-BE49-F238E27FC236}">
                <a16:creationId xmlns:a16="http://schemas.microsoft.com/office/drawing/2014/main" id="{EAF401CB-C663-DA22-401D-AE22BF67723E}"/>
              </a:ext>
            </a:extLst>
          </p:cNvPr>
          <p:cNvSpPr txBox="1"/>
          <p:nvPr/>
        </p:nvSpPr>
        <p:spPr>
          <a:xfrm>
            <a:off x="8191500" y="3556000"/>
            <a:ext cx="3619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Action vs Control. Recoverable if CRV stops sharing the surface.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27" name="Sw2">
            <a:extLst>
              <a:ext uri="{FF2B5EF4-FFF2-40B4-BE49-F238E27FC236}">
                <a16:creationId xmlns:a16="http://schemas.microsoft.com/office/drawing/2014/main" id="{20398570-06B8-B62A-C1C9-4A107DEA4731}"/>
              </a:ext>
            </a:extLst>
          </p:cNvPr>
          <p:cNvSpPr/>
          <p:nvPr/>
        </p:nvSpPr>
        <p:spPr>
          <a:xfrm>
            <a:off x="7937500" y="3937000"/>
            <a:ext cx="152400" cy="1524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28" name="R2Title">
            <a:extLst>
              <a:ext uri="{FF2B5EF4-FFF2-40B4-BE49-F238E27FC236}">
                <a16:creationId xmlns:a16="http://schemas.microsoft.com/office/drawing/2014/main" id="{94858D4F-0274-BD0A-05B4-855BB194F5AF}"/>
              </a:ext>
            </a:extLst>
          </p:cNvPr>
          <p:cNvSpPr txBox="1"/>
          <p:nvPr/>
        </p:nvSpPr>
        <p:spPr>
          <a:xfrm>
            <a:off x="8191500" y="3886200"/>
            <a:ext cx="3619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2937"/>
                </a:solidFill>
              </a:rPr>
              <a:t>Selection bias — not addressable</a:t>
            </a:r>
          </a:p>
        </p:txBody>
      </p:sp>
      <p:sp>
        <p:nvSpPr>
          <p:cNvPr id="29" name="R2Desc">
            <a:extLst>
              <a:ext uri="{FF2B5EF4-FFF2-40B4-BE49-F238E27FC236}">
                <a16:creationId xmlns:a16="http://schemas.microsoft.com/office/drawing/2014/main" id="{088A4A91-772C-6DA1-1021-5BB376903635}"/>
              </a:ext>
            </a:extLst>
          </p:cNvPr>
          <p:cNvSpPr txBox="1"/>
          <p:nvPr/>
        </p:nvSpPr>
        <p:spPr>
          <a:xfrm>
            <a:off x="8191500" y="4114800"/>
            <a:ext cx="3619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</a:rPr>
              <a:t>Control vs No-overlap. CRV-eligible clients convert lower regardless of exposure.</a:t>
            </a:r>
            <a:endParaRPr lang="en-CA" sz="1000">
              <a:solidFill>
                <a:srgbClr val="374151"/>
              </a:solidFill>
            </a:endParaRPr>
          </a:p>
        </p:txBody>
      </p:sp>
      <p:sp>
        <p:nvSpPr>
          <p:cNvPr id="30" name="RecBox">
            <a:extLst>
              <a:ext uri="{FF2B5EF4-FFF2-40B4-BE49-F238E27FC236}">
                <a16:creationId xmlns:a16="http://schemas.microsoft.com/office/drawing/2014/main" id="{9EDCDFA5-6FF3-CD24-AE06-9B58C063641E}"/>
              </a:ext>
            </a:extLst>
          </p:cNvPr>
          <p:cNvSpPr/>
          <p:nvPr/>
        </p:nvSpPr>
        <p:spPr>
          <a:xfrm>
            <a:off x="7937500" y="5334000"/>
            <a:ext cx="3873500" cy="889000"/>
          </a:xfrm>
          <a:prstGeom prst="rect">
            <a:avLst/>
          </a:prstGeom>
          <a:solidFill>
            <a:srgbClr val="FFF7ED"/>
          </a:solidFill>
          <a:ln w="9525" cap="flat" cmpd="sng" algn="ctr">
            <a:solidFill>
              <a:srgbClr val="C2410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31" name="RecTitle">
            <a:extLst>
              <a:ext uri="{FF2B5EF4-FFF2-40B4-BE49-F238E27FC236}">
                <a16:creationId xmlns:a16="http://schemas.microsoft.com/office/drawing/2014/main" id="{D5D5DBE6-D768-7305-2BAD-CA687AE8DF63}"/>
              </a:ext>
            </a:extLst>
          </p:cNvPr>
          <p:cNvSpPr txBox="1"/>
          <p:nvPr/>
        </p:nvSpPr>
        <p:spPr>
          <a:xfrm>
            <a:off x="8064500" y="5410200"/>
            <a:ext cx="3619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100" b="1">
                <a:solidFill>
                  <a:srgbClr val="C2410C"/>
                </a:solidFill>
              </a:rPr>
              <a:t>Next step</a:t>
            </a:r>
          </a:p>
        </p:txBody>
      </p:sp>
      <p:sp>
        <p:nvSpPr>
          <p:cNvPr id="32" name="RecBody">
            <a:extLst>
              <a:ext uri="{FF2B5EF4-FFF2-40B4-BE49-F238E27FC236}">
                <a16:creationId xmlns:a16="http://schemas.microsoft.com/office/drawing/2014/main" id="{8A015853-887D-F27D-FBFE-E02C2ADA81D6}"/>
              </a:ext>
            </a:extLst>
          </p:cNvPr>
          <p:cNvSpPr txBox="1"/>
          <p:nvPr/>
        </p:nvSpPr>
        <p:spPr>
          <a:xfrm>
            <a:off x="8064500" y="5613400"/>
            <a:ext cx="3619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F2937"/>
                </a:solidFill>
              </a:rPr>
              <a:t>Discontinuing CRV recovers ~65K PCL conversions over 20 months. Decision is conditional on CRV-side incremental conversions on IM, still to be measured.</a:t>
            </a:r>
            <a:endParaRPr lang="en-CA" sz="100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0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45AEE5-EA07-4D57-99BA-33CB03CADB37}"/>
              </a:ext>
            </a:extLst>
          </p:cNvPr>
          <p:cNvSpPr txBox="1"/>
          <p:nvPr/>
        </p:nvSpPr>
        <p:spPr>
          <a:xfrm>
            <a:off x="381000" y="279400"/>
            <a:ext cx="1143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Discontinue CRV on mobile in-app: yield exhausted, cannibalizing PCL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" name="CO0_bg">
            <a:extLst>
              <a:ext uri="{FF2B5EF4-FFF2-40B4-BE49-F238E27FC236}">
                <a16:creationId xmlns:a16="http://schemas.microsoft.com/office/drawing/2014/main" id="{31B830A0-2E54-4754-9C16-660D8193E9A7}"/>
              </a:ext>
            </a:extLst>
          </p:cNvPr>
          <p:cNvSpPr/>
          <p:nvPr/>
        </p:nvSpPr>
        <p:spPr>
          <a:xfrm>
            <a:off x="381000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CO0_big">
            <a:extLst>
              <a:ext uri="{FF2B5EF4-FFF2-40B4-BE49-F238E27FC236}">
                <a16:creationId xmlns:a16="http://schemas.microsoft.com/office/drawing/2014/main" id="{0F60474F-ACFF-4AEB-98A1-01ACA63DDE90}"/>
              </a:ext>
            </a:extLst>
          </p:cNvPr>
          <p:cNvSpPr txBox="1"/>
          <p:nvPr/>
        </p:nvSpPr>
        <p:spPr>
          <a:xfrm>
            <a:off x="381000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6%</a:t>
            </a:r>
          </a:p>
        </p:txBody>
      </p:sp>
      <p:sp>
        <p:nvSpPr>
          <p:cNvPr id="5" name="CO0_small">
            <a:extLst>
              <a:ext uri="{FF2B5EF4-FFF2-40B4-BE49-F238E27FC236}">
                <a16:creationId xmlns:a16="http://schemas.microsoft.com/office/drawing/2014/main" id="{4599C1FC-EAA8-4588-BF87-42758ADF3C39}"/>
              </a:ext>
            </a:extLst>
          </p:cNvPr>
          <p:cNvSpPr txBox="1"/>
          <p:nvPr/>
        </p:nvSpPr>
        <p:spPr>
          <a:xfrm>
            <a:off x="457200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2026 IM deployments
that touch a new client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6" name="CO1_bg">
            <a:extLst>
              <a:ext uri="{FF2B5EF4-FFF2-40B4-BE49-F238E27FC236}">
                <a16:creationId xmlns:a16="http://schemas.microsoft.com/office/drawing/2014/main" id="{00A4F7B2-43E7-420E-B80C-959BEB87DA86}"/>
              </a:ext>
            </a:extLst>
          </p:cNvPr>
          <p:cNvSpPr/>
          <p:nvPr/>
        </p:nvSpPr>
        <p:spPr>
          <a:xfrm>
            <a:off x="4258733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CO1_big">
            <a:extLst>
              <a:ext uri="{FF2B5EF4-FFF2-40B4-BE49-F238E27FC236}">
                <a16:creationId xmlns:a16="http://schemas.microsoft.com/office/drawing/2014/main" id="{E3EFD149-4BD6-4C76-81D6-797E3D902016}"/>
              </a:ext>
            </a:extLst>
          </p:cNvPr>
          <p:cNvSpPr txBox="1"/>
          <p:nvPr/>
        </p:nvSpPr>
        <p:spPr>
          <a:xfrm>
            <a:off x="4258733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4.4</a:t>
            </a:r>
          </a:p>
        </p:txBody>
      </p:sp>
      <p:sp>
        <p:nvSpPr>
          <p:cNvPr id="8" name="CO1_small">
            <a:extLst>
              <a:ext uri="{FF2B5EF4-FFF2-40B4-BE49-F238E27FC236}">
                <a16:creationId xmlns:a16="http://schemas.microsoft.com/office/drawing/2014/main" id="{B2CC670B-FA6A-48B8-B77C-FA7DEEE9DE92}"/>
              </a:ext>
            </a:extLst>
          </p:cNvPr>
          <p:cNvSpPr txBox="1"/>
          <p:nvPr/>
        </p:nvSpPr>
        <p:spPr>
          <a:xfrm>
            <a:off x="4334933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avg contacts per client
in 2026 (up from 2.1 in 2025)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9" name="CO2_bg">
            <a:extLst>
              <a:ext uri="{FF2B5EF4-FFF2-40B4-BE49-F238E27FC236}">
                <a16:creationId xmlns:a16="http://schemas.microsoft.com/office/drawing/2014/main" id="{219F78A6-3FB1-4C86-AB99-01CDB27F59D5}"/>
              </a:ext>
            </a:extLst>
          </p:cNvPr>
          <p:cNvSpPr/>
          <p:nvPr/>
        </p:nvSpPr>
        <p:spPr>
          <a:xfrm>
            <a:off x="8136466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CO2_big">
            <a:extLst>
              <a:ext uri="{FF2B5EF4-FFF2-40B4-BE49-F238E27FC236}">
                <a16:creationId xmlns:a16="http://schemas.microsoft.com/office/drawing/2014/main" id="{5A75CF7A-716B-49BB-991D-319EE5D8EDF7}"/>
              </a:ext>
            </a:extLst>
          </p:cNvPr>
          <p:cNvSpPr txBox="1"/>
          <p:nvPr/>
        </p:nvSpPr>
        <p:spPr>
          <a:xfrm>
            <a:off x="8136466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~65K</a:t>
            </a:r>
          </a:p>
        </p:txBody>
      </p:sp>
      <p:sp>
        <p:nvSpPr>
          <p:cNvPr id="11" name="CO2_small">
            <a:extLst>
              <a:ext uri="{FF2B5EF4-FFF2-40B4-BE49-F238E27FC236}">
                <a16:creationId xmlns:a16="http://schemas.microsoft.com/office/drawing/2014/main" id="{BA615D81-4658-4B63-9561-C9AD11FBB4B1}"/>
              </a:ext>
            </a:extLst>
          </p:cNvPr>
          <p:cNvSpPr txBox="1"/>
          <p:nvPr/>
        </p:nvSpPr>
        <p:spPr>
          <a:xfrm>
            <a:off x="8212666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PCL responders recoverable
if CRV discontinued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FE287C7-294A-4F91-B8A7-2F448C401569}"/>
              </a:ext>
            </a:extLst>
          </p:cNvPr>
          <p:cNvSpPr txBox="1"/>
          <p:nvPr/>
        </p:nvSpPr>
        <p:spPr>
          <a:xfrm>
            <a:off x="381000" y="65278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 (section E), campaigns/CRV/crv_contact_frequency.sql.  Window: Oct 2024 – Apr 2026.  Channel: IM (mobile in-app banner).  CRV filter: action_control = 'Action'.</a:t>
            </a:r>
          </a:p>
        </p:txBody>
      </p:sp>
      <p:graphicFrame>
        <p:nvGraphicFramePr>
          <p:cNvPr id="600" name="PlotA"/>
          <p:cNvGraphicFramePr/>
          <p:nvPr/>
        </p:nvGraphicFramePr>
        <p:xfrm>
          <a:off x="381000" y="838200"/>
          <a:ext cx="56515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01" name="PlotB"/>
          <p:cNvGraphicFramePr/>
          <p:nvPr/>
        </p:nvGraphicFramePr>
        <p:xfrm>
          <a:off x="6159500" y="838200"/>
          <a:ext cx="56515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769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4FFC68A3-3339-4B8A-B4D0-375F710C68AB}"/>
              </a:ext>
            </a:extLst>
          </p:cNvPr>
          <p:cNvSpPr txBox="1"/>
          <p:nvPr/>
        </p:nvSpPr>
        <p:spPr>
          <a:xfrm>
            <a:off x="381000" y="279400"/>
            <a:ext cx="1143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F2937"/>
                </a:solidFill>
              </a:rPr>
              <a:t>CRV is past saturation: response collapses while most clients sit deep in the tail</a:t>
            </a:r>
            <a:endParaRPr lang="en-CA" sz="2200" b="1">
              <a:solidFill>
                <a:srgbClr val="1F2937"/>
              </a:solidFill>
            </a:endParaRPr>
          </a:p>
        </p:txBody>
      </p:sp>
      <p:sp>
        <p:nvSpPr>
          <p:cNvPr id="3" name="CO0_bg">
            <a:extLst>
              <a:ext uri="{FF2B5EF4-FFF2-40B4-BE49-F238E27FC236}">
                <a16:creationId xmlns:a16="http://schemas.microsoft.com/office/drawing/2014/main" id="{8A300CF5-C003-4D11-8997-DABABC95385E}"/>
              </a:ext>
            </a:extLst>
          </p:cNvPr>
          <p:cNvSpPr/>
          <p:nvPr/>
        </p:nvSpPr>
        <p:spPr>
          <a:xfrm>
            <a:off x="381000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BB00F-F898-405E-AFF8-FD10A94D5B57}"/>
              </a:ext>
            </a:extLst>
          </p:cNvPr>
          <p:cNvSpPr txBox="1"/>
          <p:nvPr/>
        </p:nvSpPr>
        <p:spPr>
          <a:xfrm>
            <a:off x="381000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6%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A9E28-C7A1-49EB-98EB-0F1F595087AA}"/>
              </a:ext>
            </a:extLst>
          </p:cNvPr>
          <p:cNvSpPr txBox="1"/>
          <p:nvPr/>
        </p:nvSpPr>
        <p:spPr>
          <a:xfrm>
            <a:off x="457200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of 2026 IM deployments
touch a new client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6" name="CO1_bg">
            <a:extLst>
              <a:ext uri="{FF2B5EF4-FFF2-40B4-BE49-F238E27FC236}">
                <a16:creationId xmlns:a16="http://schemas.microsoft.com/office/drawing/2014/main" id="{A64566B4-2EE0-4A5C-BACD-DF2C085BCB10}"/>
              </a:ext>
            </a:extLst>
          </p:cNvPr>
          <p:cNvSpPr/>
          <p:nvPr/>
        </p:nvSpPr>
        <p:spPr>
          <a:xfrm>
            <a:off x="4258733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0E5C8-4FD1-48C0-9DD5-7A802638BC70}"/>
              </a:ext>
            </a:extLst>
          </p:cNvPr>
          <p:cNvSpPr txBox="1"/>
          <p:nvPr/>
        </p:nvSpPr>
        <p:spPr>
          <a:xfrm>
            <a:off x="4258733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94%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6C471-1168-4545-A170-4DF1D04925C1}"/>
              </a:ext>
            </a:extLst>
          </p:cNvPr>
          <p:cNvSpPr txBox="1"/>
          <p:nvPr/>
        </p:nvSpPr>
        <p:spPr>
          <a:xfrm>
            <a:off x="4334933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go to clients already
contacted at least once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9" name="CO2_bg">
            <a:extLst>
              <a:ext uri="{FF2B5EF4-FFF2-40B4-BE49-F238E27FC236}">
                <a16:creationId xmlns:a16="http://schemas.microsoft.com/office/drawing/2014/main" id="{DBF669E2-E636-4E4F-A3D8-65E196EC8807}"/>
              </a:ext>
            </a:extLst>
          </p:cNvPr>
          <p:cNvSpPr/>
          <p:nvPr/>
        </p:nvSpPr>
        <p:spPr>
          <a:xfrm>
            <a:off x="8136466" y="5232400"/>
            <a:ext cx="3674533" cy="1117600"/>
          </a:xfrm>
          <a:prstGeom prst="rect">
            <a:avLst/>
          </a:prstGeom>
          <a:solidFill>
            <a:srgbClr val="F3F4F6"/>
          </a:solidFill>
          <a:ln w="9525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FF218-6235-4377-B882-7A70178655D9}"/>
              </a:ext>
            </a:extLst>
          </p:cNvPr>
          <p:cNvSpPr txBox="1"/>
          <p:nvPr/>
        </p:nvSpPr>
        <p:spPr>
          <a:xfrm>
            <a:off x="8136466" y="5334000"/>
            <a:ext cx="3674533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2800" b="1">
                <a:solidFill>
                  <a:srgbClr val="1F4E79"/>
                </a:solidFill>
              </a:rPr>
              <a:t>0.10%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6E269-A5CB-459C-8520-925964747953}"/>
              </a:ext>
            </a:extLst>
          </p:cNvPr>
          <p:cNvSpPr txBox="1"/>
          <p:nvPr/>
        </p:nvSpPr>
        <p:spPr>
          <a:xfrm>
            <a:off x="8212666" y="5867400"/>
            <a:ext cx="3522133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74151"/>
                </a:solidFill>
              </a:rPr>
              <a:t>May 2026 IM response rate —
effectively zero</a:t>
            </a:r>
            <a:endParaRPr lang="en-CA" sz="1200">
              <a:solidFill>
                <a:srgbClr val="374151"/>
              </a:solidFill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6AFF89CC-4318-4EF8-8607-0CECC6A5C7DC}"/>
              </a:ext>
            </a:extLst>
          </p:cNvPr>
          <p:cNvSpPr txBox="1"/>
          <p:nvPr/>
        </p:nvSpPr>
        <p:spPr>
          <a:xfrm>
            <a:off x="381000" y="6477000"/>
            <a:ext cx="1143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6B7280"/>
                </a:solidFill>
              </a:rPr>
              <a:t>Source: campaigns/CRV/crv_contact_frequency.sql.  Window: Oct 2024 – Apr 2026.  Channel: IM (mobile in-app banner).  Contact frequency counts all CRV touches per client over the cumulative window; the tail mass is partly a function of the long lookback.</a:t>
            </a:r>
            <a:endParaRPr lang="en-CA" sz="900" i="1">
              <a:solidFill>
                <a:srgbClr val="6B7280"/>
              </a:solidFill>
            </a:endParaRPr>
          </a:p>
        </p:txBody>
      </p:sp>
      <p:graphicFrame>
        <p:nvGraphicFramePr>
          <p:cNvPr id="650" name="ComboPlot"/>
          <p:cNvGraphicFramePr/>
          <p:nvPr/>
        </p:nvGraphicFramePr>
        <p:xfrm>
          <a:off x="1828800" y="889000"/>
          <a:ext cx="8534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227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FF3B1BC-FAE5-4267-892D-14EE0EB5E692}"/>
              </a:ext>
            </a:extLst>
          </p:cNvPr>
          <p:cNvSpPr txBox="1"/>
          <p:nvPr/>
        </p:nvSpPr>
        <p:spPr>
          <a:xfrm>
            <a:off x="508000" y="635000"/>
            <a:ext cx="1117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4000" b="1">
                <a:solidFill>
                  <a:srgbClr val="1F2937"/>
                </a:solidFill>
              </a:rPr>
              <a:t>Discontinue CRV on the mobile in-app banner.</a:t>
            </a:r>
            <a:endParaRPr lang="en-CA" sz="4000" b="1">
              <a:solidFill>
                <a:srgbClr val="1F293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C0C963-E08B-42F2-8968-F38870B1E4B2}"/>
              </a:ext>
            </a:extLst>
          </p:cNvPr>
          <p:cNvSpPr txBox="1"/>
          <p:nvPr/>
        </p:nvSpPr>
        <p:spPr>
          <a:xfrm>
            <a:off x="508000" y="15748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4B5563"/>
                </a:solidFill>
              </a:rPr>
              <a:t>It's not producing response anymore, and it's eating PCL when it runs.</a:t>
            </a:r>
            <a:endParaRPr lang="en-CA">
              <a:solidFill>
                <a:srgbClr val="4B5563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BB52F1E-85BC-4995-A0CA-E5B866116991}"/>
              </a:ext>
            </a:extLst>
          </p:cNvPr>
          <p:cNvSpPr/>
          <p:nvPr/>
        </p:nvSpPr>
        <p:spPr>
          <a:xfrm>
            <a:off x="508000" y="2133600"/>
            <a:ext cx="1016000" cy="381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C0523E-6493-424E-8F3E-C6E6D10F9705}"/>
              </a:ext>
            </a:extLst>
          </p:cNvPr>
          <p:cNvSpPr txBox="1"/>
          <p:nvPr/>
        </p:nvSpPr>
        <p:spPr>
          <a:xfrm>
            <a:off x="508000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0.10%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F2618A-ADA0-4C2B-B69C-9160CD4AFAAC}"/>
              </a:ext>
            </a:extLst>
          </p:cNvPr>
          <p:cNvSpPr txBox="1"/>
          <p:nvPr/>
        </p:nvSpPr>
        <p:spPr>
          <a:xfrm>
            <a:off x="508000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May 2026 CRV response rate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A2B404-DBB2-456A-AA05-ACACB48C708D}"/>
              </a:ext>
            </a:extLst>
          </p:cNvPr>
          <p:cNvSpPr txBox="1"/>
          <p:nvPr/>
        </p:nvSpPr>
        <p:spPr>
          <a:xfrm>
            <a:off x="508000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Down from 1.5% in Jan 2025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70DF82-3163-44BB-897A-ACF0AF6BF1FF}"/>
              </a:ext>
            </a:extLst>
          </p:cNvPr>
          <p:cNvSpPr txBox="1"/>
          <p:nvPr/>
        </p:nvSpPr>
        <p:spPr>
          <a:xfrm>
            <a:off x="4360333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94%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0C8280-1E24-4948-8D73-96F9AC960EA0}"/>
              </a:ext>
            </a:extLst>
          </p:cNvPr>
          <p:cNvSpPr txBox="1"/>
          <p:nvPr/>
        </p:nvSpPr>
        <p:spPr>
          <a:xfrm>
            <a:off x="4360333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of CRV contacts now go to repeat clients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2AC4A6-6BAB-4F6B-94AD-586AD6595956}"/>
              </a:ext>
            </a:extLst>
          </p:cNvPr>
          <p:cNvSpPr txBox="1"/>
          <p:nvPr/>
        </p:nvSpPr>
        <p:spPr>
          <a:xfrm>
            <a:off x="4360333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Avg client has had 4.4 prior contacts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269BF4-018F-4102-9627-F3E4A4842E19}"/>
              </a:ext>
            </a:extLst>
          </p:cNvPr>
          <p:cNvSpPr txBox="1"/>
          <p:nvPr/>
        </p:nvSpPr>
        <p:spPr>
          <a:xfrm>
            <a:off x="8212666" y="2730500"/>
            <a:ext cx="3471333" cy="1143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6400" b="1">
                <a:solidFill>
                  <a:srgbClr val="1F4E79"/>
                </a:solidFill>
              </a:rPr>
              <a:t>~65K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559989-30EA-4453-9F6E-AC6F983E8D51}"/>
              </a:ext>
            </a:extLst>
          </p:cNvPr>
          <p:cNvSpPr txBox="1"/>
          <p:nvPr/>
        </p:nvSpPr>
        <p:spPr>
          <a:xfrm>
            <a:off x="8212666" y="3949700"/>
            <a:ext cx="3471333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937"/>
                </a:solidFill>
              </a:rPr>
              <a:t>PCL conversions we recover by stopping CRV</a:t>
            </a:r>
            <a:endParaRPr lang="en-CA" sz="1600" b="1">
              <a:solidFill>
                <a:srgbClr val="1F2937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626818-21FB-4CF3-B34C-BBACEE7476A9}"/>
              </a:ext>
            </a:extLst>
          </p:cNvPr>
          <p:cNvSpPr txBox="1"/>
          <p:nvPr/>
        </p:nvSpPr>
        <p:spPr>
          <a:xfrm>
            <a:off x="8212666" y="4559300"/>
            <a:ext cx="3471333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6B7280"/>
                </a:solidFill>
              </a:rPr>
              <a:t>Over the Oct 2024 – Apr 2026 window</a:t>
            </a:r>
            <a:endParaRPr lang="en-CA" sz="1300">
              <a:solidFill>
                <a:srgbClr val="6B7280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2DA811-BCB9-4599-B003-B5BD0F305927}"/>
              </a:ext>
            </a:extLst>
          </p:cNvPr>
          <p:cNvSpPr/>
          <p:nvPr/>
        </p:nvSpPr>
        <p:spPr>
          <a:xfrm>
            <a:off x="508000" y="5588000"/>
            <a:ext cx="11176000" cy="8128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CA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7CB22A-D6FD-4952-8CBC-9ADC1B39EAE7}"/>
              </a:ext>
            </a:extLst>
          </p:cNvPr>
          <p:cNvSpPr txBox="1"/>
          <p:nvPr/>
        </p:nvSpPr>
        <p:spPr>
          <a:xfrm>
            <a:off x="762000" y="5816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374151"/>
                </a:solidFill>
              </a:rPr>
              <a:t>Pair with CRV-side incremental conversions on IM to confirm CRV is not generating more than 65K of its own.</a:t>
            </a:r>
            <a:endParaRPr lang="en-CA" sz="1400" i="1">
              <a:solidFill>
                <a:srgbClr val="37415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A2538B-DAFE-4A00-84F6-666F79EBE715}"/>
              </a:ext>
            </a:extLst>
          </p:cNvPr>
          <p:cNvSpPr txBox="1"/>
          <p:nvPr/>
        </p:nvSpPr>
        <p:spPr>
          <a:xfrm>
            <a:off x="508000" y="6553200"/>
            <a:ext cx="1117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9CA3AF"/>
                </a:solidFill>
              </a:rPr>
              <a:t>Source: campaigns/CRV/crv_pcl_overlap_summary.sql, crv_contact_frequency.sql.  Window: Oct 2024 – Apr 2026.  Channel: IM (mobile in-app banner).</a:t>
            </a:r>
          </a:p>
        </p:txBody>
      </p:sp>
    </p:spTree>
    <p:extLst>
      <p:ext uri="{BB962C8B-B14F-4D97-AF65-F5344CB8AC3E}">
        <p14:creationId xmlns:p14="http://schemas.microsoft.com/office/powerpoint/2010/main" val="95018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5942D7-382E-4350-A2A7-2D12490BCD05}"/>
              </a:ext>
            </a:extLst>
          </p:cNvPr>
          <p:cNvSpPr txBox="1"/>
          <p:nvPr/>
        </p:nvSpPr>
        <p:spPr>
          <a:xfrm>
            <a:off x="381000" y="279400"/>
            <a:ext cx="1143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F2937"/>
                </a:solidFill>
              </a:rPr>
              <a:t>Discontinue CRV on mobile in-app — yield exhausted, ~65K PCL conversions recoverable</a:t>
            </a:r>
            <a:endParaRPr lang="en-CA" sz="2000" b="1">
              <a:solidFill>
                <a:srgbClr val="1F2937"/>
              </a:solidFill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8E93CD6-D77D-43BB-9C8D-356E432E8A44}"/>
              </a:ext>
            </a:extLst>
          </p:cNvPr>
          <p:cNvSpPr txBox="1"/>
          <p:nvPr/>
        </p:nvSpPr>
        <p:spPr>
          <a:xfrm>
            <a:off x="381000" y="6553200"/>
            <a:ext cx="1143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900" i="1">
                <a:solidFill>
                  <a:srgbClr val="6B7280"/>
                </a:solidFill>
              </a:rPr>
              <a:t>Source: campaigns/CRV/crv_pcl_overlap_summary.sql, campaigns/CRV/crv_contact_frequency.sql.  Window: Oct 2024 – Apr 2026.  Channel: IM (mobile in-app).  7.4M CRV-exposed PCL events.</a:t>
            </a:r>
          </a:p>
        </p:txBody>
      </p:sp>
      <p:graphicFrame>
        <p:nvGraphicFramePr>
          <p:cNvPr id="700" name="PlotA"/>
          <p:cNvGraphicFramePr/>
          <p:nvPr/>
        </p:nvGraphicFramePr>
        <p:xfrm>
          <a:off x="254000" y="838200"/>
          <a:ext cx="5842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01" name="PlotB"/>
          <p:cNvGraphicFramePr/>
          <p:nvPr>
            <p:extLst>
              <p:ext uri="{D42A27DB-BD31-4B8C-83A1-F6EECF244321}">
                <p14:modId xmlns:p14="http://schemas.microsoft.com/office/powerpoint/2010/main" val="379558161"/>
              </p:ext>
            </p:extLst>
          </p:nvPr>
        </p:nvGraphicFramePr>
        <p:xfrm>
          <a:off x="6159500" y="838200"/>
          <a:ext cx="5842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8C081F-4ABA-4A61-9994-85A8D19EDE74}"/>
              </a:ext>
            </a:extLst>
          </p:cNvPr>
          <p:cNvSpPr txBox="1"/>
          <p:nvPr/>
        </p:nvSpPr>
        <p:spPr>
          <a:xfrm>
            <a:off x="635000" y="2159000"/>
            <a:ext cx="190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2410C"/>
                </a:solidFill>
              </a:rPr>
              <a:t>Only 6% are new clients</a:t>
            </a:r>
            <a:endParaRPr lang="en-CA" sz="1100" b="1">
              <a:solidFill>
                <a:srgbClr val="C2410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531E9-3827-457E-91EC-F8B966660276}"/>
              </a:ext>
            </a:extLst>
          </p:cNvPr>
          <p:cNvSpPr txBox="1"/>
          <p:nvPr/>
        </p:nvSpPr>
        <p:spPr>
          <a:xfrm>
            <a:off x="2286000" y="2032000"/>
            <a:ext cx="2286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CA" sz="1200" b="1">
                <a:solidFill>
                  <a:srgbClr val="1F4E79"/>
                </a:solidFill>
              </a:rPr>
              <a:t>94% are repeat contacts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D701B-C66D-4DF7-BF0F-32E9EFE9F546}"/>
              </a:ext>
            </a:extLst>
          </p:cNvPr>
          <p:cNvSpPr txBox="1"/>
          <p:nvPr/>
        </p:nvSpPr>
        <p:spPr>
          <a:xfrm>
            <a:off x="3873500" y="29210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 i="1">
                <a:solidFill>
                  <a:srgbClr val="1F2937"/>
                </a:solidFill>
              </a:rPr>
              <a:t>Response collapses
past 5 contacts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4423F-B111-4158-AE23-E98BC72D600C}"/>
              </a:ext>
            </a:extLst>
          </p:cNvPr>
          <p:cNvSpPr txBox="1"/>
          <p:nvPr/>
        </p:nvSpPr>
        <p:spPr>
          <a:xfrm>
            <a:off x="9271000" y="31750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>
                <a:solidFill>
                  <a:srgbClr val="1F4E79"/>
                </a:solidFill>
              </a:rPr>
              <a:t>Comparable PCL clients
(no CRV)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3F545-7727-4B62-AFFB-0AB3ED7C0B87}"/>
              </a:ext>
            </a:extLst>
          </p:cNvPr>
          <p:cNvSpPr txBox="1"/>
          <p:nvPr/>
        </p:nvSpPr>
        <p:spPr>
          <a:xfrm>
            <a:off x="9271000" y="3962400"/>
            <a:ext cx="203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CA" sz="1000" b="1">
                <a:solidFill>
                  <a:srgbClr val="C2410C"/>
                </a:solidFill>
              </a:rPr>
              <a:t>CRV-exposed
PCL clients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9489F-C549-445D-BD42-3CE1130A756B}"/>
              </a:ext>
            </a:extLst>
          </p:cNvPr>
          <p:cNvSpPr txBox="1"/>
          <p:nvPr/>
        </p:nvSpPr>
        <p:spPr>
          <a:xfrm>
            <a:off x="7175500" y="4445000"/>
            <a:ext cx="279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7C2D12"/>
                </a:solidFill>
              </a:rPr>
              <a:t>~65K PCL conversions recoverable
if CRV discontinued</a:t>
            </a:r>
            <a:endParaRPr lang="en-CA" sz="1000" b="1">
              <a:solidFill>
                <a:srgbClr val="7C2D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2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apShade"/>
          <p:cNvSpPr/>
          <p:nvPr/>
        </p:nvSpPr>
        <p:spPr>
          <a:xfrm>
            <a:off x="3657600" y="2989631"/>
            <a:ext cx="4511040" cy="1223620"/>
          </a:xfrm>
          <a:custGeom>
            <a:avLst/>
            <a:gdLst/>
            <a:ahLst/>
            <a:cxnLst/>
            <a:rect l="0" t="0" r="0" b="0"/>
            <a:pathLst>
              <a:path w="4511040" h="1223620">
                <a:moveTo>
                  <a:pt x="0" y="548030"/>
                </a:moveTo>
                <a:lnTo>
                  <a:pt x="250613" y="311810"/>
                </a:lnTo>
                <a:lnTo>
                  <a:pt x="501227" y="231496"/>
                </a:lnTo>
                <a:lnTo>
                  <a:pt x="751840" y="368503"/>
                </a:lnTo>
                <a:lnTo>
                  <a:pt x="1002453" y="727558"/>
                </a:lnTo>
                <a:lnTo>
                  <a:pt x="1253067" y="259842"/>
                </a:lnTo>
                <a:lnTo>
                  <a:pt x="1503680" y="137008"/>
                </a:lnTo>
                <a:lnTo>
                  <a:pt x="1754293" y="377952"/>
                </a:lnTo>
                <a:lnTo>
                  <a:pt x="2004907" y="250393"/>
                </a:lnTo>
                <a:lnTo>
                  <a:pt x="2255520" y="477164"/>
                </a:lnTo>
                <a:lnTo>
                  <a:pt x="2506133" y="718109"/>
                </a:lnTo>
                <a:lnTo>
                  <a:pt x="2756747" y="576377"/>
                </a:lnTo>
                <a:lnTo>
                  <a:pt x="3007360" y="571652"/>
                </a:lnTo>
                <a:lnTo>
                  <a:pt x="3257973" y="595274"/>
                </a:lnTo>
                <a:lnTo>
                  <a:pt x="3508587" y="240944"/>
                </a:lnTo>
                <a:lnTo>
                  <a:pt x="3759200" y="505511"/>
                </a:lnTo>
                <a:lnTo>
                  <a:pt x="4009813" y="514960"/>
                </a:lnTo>
                <a:lnTo>
                  <a:pt x="4260427" y="614172"/>
                </a:lnTo>
                <a:lnTo>
                  <a:pt x="4511040" y="0"/>
                </a:lnTo>
                <a:lnTo>
                  <a:pt x="4511040" y="538582"/>
                </a:lnTo>
                <a:lnTo>
                  <a:pt x="4260427" y="1223620"/>
                </a:lnTo>
                <a:lnTo>
                  <a:pt x="4009813" y="793699"/>
                </a:lnTo>
                <a:lnTo>
                  <a:pt x="3759200" y="822046"/>
                </a:lnTo>
                <a:lnTo>
                  <a:pt x="3508587" y="685038"/>
                </a:lnTo>
                <a:lnTo>
                  <a:pt x="3257973" y="911809"/>
                </a:lnTo>
                <a:lnTo>
                  <a:pt x="3007360" y="836219"/>
                </a:lnTo>
                <a:lnTo>
                  <a:pt x="2756747" y="836219"/>
                </a:lnTo>
                <a:lnTo>
                  <a:pt x="2506133" y="996848"/>
                </a:lnTo>
                <a:lnTo>
                  <a:pt x="2255520" y="836219"/>
                </a:lnTo>
                <a:lnTo>
                  <a:pt x="2004907" y="1062990"/>
                </a:lnTo>
                <a:lnTo>
                  <a:pt x="1754293" y="812597"/>
                </a:lnTo>
                <a:lnTo>
                  <a:pt x="1503680" y="722833"/>
                </a:lnTo>
                <a:lnTo>
                  <a:pt x="1253067" y="590550"/>
                </a:lnTo>
                <a:lnTo>
                  <a:pt x="1002453" y="1148029"/>
                </a:lnTo>
                <a:lnTo>
                  <a:pt x="751840" y="788975"/>
                </a:lnTo>
                <a:lnTo>
                  <a:pt x="501227" y="935431"/>
                </a:lnTo>
                <a:lnTo>
                  <a:pt x="250613" y="963778"/>
                </a:lnTo>
                <a:lnTo>
                  <a:pt x="0" y="1044092"/>
                </a:lnTo>
                <a:close/>
              </a:path>
            </a:pathLst>
          </a:custGeom>
          <a:solidFill>
            <a:srgbClr val="C2410C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800" name="PlotB_clean"/>
          <p:cNvGraphicFramePr/>
          <p:nvPr/>
        </p:nvGraphicFramePr>
        <p:xfrm>
          <a:off x="3048000" y="838200"/>
          <a:ext cx="6096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943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apShadeSmooth"/>
          <p:cNvSpPr/>
          <p:nvPr/>
        </p:nvSpPr>
        <p:spPr>
          <a:xfrm>
            <a:off x="3657600" y="2989631"/>
            <a:ext cx="4511040" cy="1266139"/>
          </a:xfrm>
          <a:custGeom>
            <a:avLst/>
            <a:gdLst/>
            <a:ahLst/>
            <a:cxnLst/>
            <a:rect l="0" t="0" r="0" b="0"/>
            <a:pathLst>
              <a:path w="4511040" h="1266139">
                <a:moveTo>
                  <a:pt x="0" y="548030"/>
                </a:moveTo>
                <a:cubicBezTo>
                  <a:pt x="41769" y="508660"/>
                  <a:pt x="167076" y="364566"/>
                  <a:pt x="250613" y="311810"/>
                </a:cubicBezTo>
                <a:cubicBezTo>
                  <a:pt x="334151" y="259055"/>
                  <a:pt x="417689" y="222047"/>
                  <a:pt x="501227" y="231496"/>
                </a:cubicBezTo>
                <a:cubicBezTo>
                  <a:pt x="584764" y="240944"/>
                  <a:pt x="668302" y="285826"/>
                  <a:pt x="751840" y="368503"/>
                </a:cubicBezTo>
                <a:cubicBezTo>
                  <a:pt x="835378" y="451180"/>
                  <a:pt x="918916" y="745668"/>
                  <a:pt x="1002453" y="727558"/>
                </a:cubicBezTo>
                <a:cubicBezTo>
                  <a:pt x="1085991" y="709447"/>
                  <a:pt x="1169529" y="358267"/>
                  <a:pt x="1253067" y="259842"/>
                </a:cubicBezTo>
                <a:cubicBezTo>
                  <a:pt x="1336604" y="161417"/>
                  <a:pt x="1420142" y="117323"/>
                  <a:pt x="1503680" y="137008"/>
                </a:cubicBezTo>
                <a:cubicBezTo>
                  <a:pt x="1587218" y="156693"/>
                  <a:pt x="1670756" y="359054"/>
                  <a:pt x="1754293" y="377952"/>
                </a:cubicBezTo>
                <a:cubicBezTo>
                  <a:pt x="1837831" y="396850"/>
                  <a:pt x="1921369" y="233858"/>
                  <a:pt x="2004907" y="250393"/>
                </a:cubicBezTo>
                <a:cubicBezTo>
                  <a:pt x="2088444" y="266929"/>
                  <a:pt x="2171982" y="399212"/>
                  <a:pt x="2255520" y="477164"/>
                </a:cubicBezTo>
                <a:cubicBezTo>
                  <a:pt x="2339058" y="555117"/>
                  <a:pt x="2422596" y="701573"/>
                  <a:pt x="2506133" y="718109"/>
                </a:cubicBezTo>
                <a:cubicBezTo>
                  <a:pt x="2589671" y="734644"/>
                  <a:pt x="2673209" y="600786"/>
                  <a:pt x="2756747" y="576377"/>
                </a:cubicBezTo>
                <a:cubicBezTo>
                  <a:pt x="2840284" y="551967"/>
                  <a:pt x="2923822" y="568503"/>
                  <a:pt x="3007360" y="571652"/>
                </a:cubicBezTo>
                <a:cubicBezTo>
                  <a:pt x="3090898" y="574802"/>
                  <a:pt x="3174436" y="650392"/>
                  <a:pt x="3257973" y="595274"/>
                </a:cubicBezTo>
                <a:cubicBezTo>
                  <a:pt x="3341511" y="540156"/>
                  <a:pt x="3425049" y="255905"/>
                  <a:pt x="3508587" y="240944"/>
                </a:cubicBezTo>
                <a:cubicBezTo>
                  <a:pt x="3592124" y="225984"/>
                  <a:pt x="3675662" y="459842"/>
                  <a:pt x="3759200" y="505511"/>
                </a:cubicBezTo>
                <a:cubicBezTo>
                  <a:pt x="3842738" y="551180"/>
                  <a:pt x="3926276" y="496849"/>
                  <a:pt x="4009813" y="514960"/>
                </a:cubicBezTo>
                <a:cubicBezTo>
                  <a:pt x="4093351" y="533070"/>
                  <a:pt x="4176889" y="699999"/>
                  <a:pt x="4260427" y="614172"/>
                </a:cubicBezTo>
                <a:cubicBezTo>
                  <a:pt x="4343964" y="528345"/>
                  <a:pt x="4469271" y="102362"/>
                  <a:pt x="4511040" y="0"/>
                </a:cubicBezTo>
                <a:lnTo>
                  <a:pt x="4511040" y="538582"/>
                </a:lnTo>
                <a:cubicBezTo>
                  <a:pt x="4469271" y="652755"/>
                  <a:pt x="4343964" y="1181100"/>
                  <a:pt x="4260427" y="1223620"/>
                </a:cubicBezTo>
                <a:cubicBezTo>
                  <a:pt x="4176889" y="1266139"/>
                  <a:pt x="4093351" y="860628"/>
                  <a:pt x="4009813" y="793699"/>
                </a:cubicBezTo>
                <a:cubicBezTo>
                  <a:pt x="3926276" y="726770"/>
                  <a:pt x="3842738" y="840156"/>
                  <a:pt x="3759200" y="822046"/>
                </a:cubicBezTo>
                <a:cubicBezTo>
                  <a:pt x="3675662" y="803935"/>
                  <a:pt x="3592124" y="670077"/>
                  <a:pt x="3508587" y="685038"/>
                </a:cubicBezTo>
                <a:cubicBezTo>
                  <a:pt x="3425049" y="699999"/>
                  <a:pt x="3341511" y="886612"/>
                  <a:pt x="3257973" y="911809"/>
                </a:cubicBezTo>
                <a:cubicBezTo>
                  <a:pt x="3174436" y="937006"/>
                  <a:pt x="3090898" y="848817"/>
                  <a:pt x="3007360" y="836219"/>
                </a:cubicBezTo>
                <a:cubicBezTo>
                  <a:pt x="2923822" y="823620"/>
                  <a:pt x="2840284" y="809447"/>
                  <a:pt x="2756747" y="836219"/>
                </a:cubicBezTo>
                <a:cubicBezTo>
                  <a:pt x="2673209" y="862990"/>
                  <a:pt x="2589671" y="996848"/>
                  <a:pt x="2506133" y="996848"/>
                </a:cubicBezTo>
                <a:cubicBezTo>
                  <a:pt x="2422596" y="996848"/>
                  <a:pt x="2339058" y="825195"/>
                  <a:pt x="2255520" y="836219"/>
                </a:cubicBezTo>
                <a:cubicBezTo>
                  <a:pt x="2171982" y="847242"/>
                  <a:pt x="2088444" y="1066927"/>
                  <a:pt x="2004907" y="1062990"/>
                </a:cubicBezTo>
                <a:cubicBezTo>
                  <a:pt x="1921369" y="1059053"/>
                  <a:pt x="1837831" y="869290"/>
                  <a:pt x="1754293" y="812597"/>
                </a:cubicBezTo>
                <a:cubicBezTo>
                  <a:pt x="1670756" y="755904"/>
                  <a:pt x="1587218" y="759841"/>
                  <a:pt x="1503680" y="722833"/>
                </a:cubicBezTo>
                <a:cubicBezTo>
                  <a:pt x="1420142" y="685825"/>
                  <a:pt x="1336604" y="519684"/>
                  <a:pt x="1253067" y="590550"/>
                </a:cubicBezTo>
                <a:cubicBezTo>
                  <a:pt x="1169529" y="661416"/>
                  <a:pt x="1085991" y="1114958"/>
                  <a:pt x="1002453" y="1148029"/>
                </a:cubicBezTo>
                <a:cubicBezTo>
                  <a:pt x="918916" y="1181100"/>
                  <a:pt x="835378" y="824408"/>
                  <a:pt x="751840" y="788975"/>
                </a:cubicBezTo>
                <a:cubicBezTo>
                  <a:pt x="668302" y="753542"/>
                  <a:pt x="584764" y="906297"/>
                  <a:pt x="501227" y="935431"/>
                </a:cubicBezTo>
                <a:cubicBezTo>
                  <a:pt x="417689" y="964565"/>
                  <a:pt x="334151" y="945667"/>
                  <a:pt x="250613" y="963778"/>
                </a:cubicBezTo>
                <a:cubicBezTo>
                  <a:pt x="167076" y="981888"/>
                  <a:pt x="41769" y="1030707"/>
                  <a:pt x="0" y="1044092"/>
                </a:cubicBezTo>
                <a:close/>
              </a:path>
            </a:pathLst>
          </a:custGeom>
          <a:solidFill>
            <a:srgbClr val="C2410C">
              <a:alpha val="2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900" name="PlotB_smooth"/>
          <p:cNvGraphicFramePr/>
          <p:nvPr/>
        </p:nvGraphicFramePr>
        <p:xfrm>
          <a:off x="3048000" y="838200"/>
          <a:ext cx="6096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410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1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0CB56B-5C0B-4049-A3FE-8809E758C72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194e33-77cb-4b31-a911-c25301a7e5f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926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AVS</dc:creator>
  <cp:lastModifiedBy>Andre AVS</cp:lastModifiedBy>
  <cp:revision>2</cp:revision>
  <dcterms:created xsi:type="dcterms:W3CDTF">2026-05-15T00:30:13Z</dcterms:created>
  <dcterms:modified xsi:type="dcterms:W3CDTF">2026-05-15T18:44:48Z</dcterms:modified>
</cp:coreProperties>
</file>