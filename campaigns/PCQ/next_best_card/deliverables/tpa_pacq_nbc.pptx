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92" r:id="rId3"/>
    <p:sldId id="291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9" autoAdjust="0"/>
    <p:restoredTop sz="94660"/>
  </p:normalViewPr>
  <p:slideViewPr>
    <p:cSldViewPr snapToGrid="0">
      <p:cViewPr>
        <p:scale>
          <a:sx n="67" d="100"/>
          <a:sy n="67" d="100"/>
        </p:scale>
        <p:origin x="124" y="1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 sz="1400" b="1">
                <a:solidFill>
                  <a:srgbClr val="003168"/>
                </a:solidFill>
                <a:latin typeface="Calibri"/>
              </a:defRPr>
            </a:pPr>
            <a:r>
              <a:rPr lang="en-US" sz="1400" b="1" dirty="0">
                <a:solidFill>
                  <a:srgbClr val="003168"/>
                </a:solidFill>
                <a:latin typeface="Calibri"/>
              </a:rPr>
              <a:t>Approval rate and average value per approved account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v>Approval rate</c:v>
          </c:tx>
          <c:spPr>
            <a:solidFill>
              <a:srgbClr val="0051A5"/>
            </a:solidFill>
            <a:ln>
              <a:noFill/>
            </a:ln>
          </c:spPr>
          <c:invertIfNegative val="1"/>
          <c:dPt>
            <c:idx val="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1-6EC4-4687-93FB-BE15D7976C45}"/>
              </c:ext>
            </c:extLst>
          </c:dPt>
          <c:dPt>
            <c:idx val="1"/>
            <c:invertIfNegative val="1"/>
            <c:bubble3D val="0"/>
            <c:spPr>
              <a:solidFill>
                <a:srgbClr val="FFC72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6EC4-4687-93FB-BE15D7976C45}"/>
              </c:ext>
            </c:extLst>
          </c:dPt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212121"/>
                    </a:solidFill>
                    <a:latin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1st best</c:v>
              </c:pt>
              <c:pt idx="1">
                <c:v>2nd best</c:v>
              </c:pt>
            </c:strLit>
          </c:cat>
          <c:val>
            <c:numLit>
              <c:formatCode>0.00"%"</c:formatCode>
              <c:ptCount val="2"/>
              <c:pt idx="0">
                <c:v>1.05</c:v>
              </c:pt>
              <c:pt idx="1">
                <c:v>1.05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6EC4-4687-93FB-BE15D7976C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"/>
        <c:axId val="2"/>
      </c:barChart>
      <c:lineChart>
        <c:grouping val="standard"/>
        <c:varyColors val="0"/>
        <c:ser>
          <c:idx val="1"/>
          <c:order val="1"/>
          <c:tx>
            <c:v>Weighted $ per approved account</c:v>
          </c:tx>
          <c:spPr>
            <a:ln w="28575">
              <a:solidFill>
                <a:srgbClr val="003168"/>
              </a:solidFill>
            </a:ln>
          </c:spPr>
          <c:marker>
            <c:symbol val="circle"/>
            <c:size val="8"/>
            <c:spPr>
              <a:solidFill>
                <a:srgbClr val="003168"/>
              </a:solidFill>
              <a:ln>
                <a:solidFill>
                  <a:srgbClr val="003168"/>
                </a:solidFill>
              </a:ln>
            </c:spPr>
          </c:marker>
          <c:dLbls>
            <c:numFmt formatCode="&quot;$&quot;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212121"/>
                    </a:solidFill>
                    <a:latin typeface="Calibri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1st best</c:v>
              </c:pt>
              <c:pt idx="1">
                <c:v>2nd best</c:v>
              </c:pt>
            </c:strLit>
          </c:cat>
          <c:val>
            <c:numLit>
              <c:formatCode>"$"#,##0</c:formatCode>
              <c:ptCount val="2"/>
              <c:pt idx="0">
                <c:v>11625</c:v>
              </c:pt>
              <c:pt idx="1">
                <c:v>9045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5-6EC4-4687-93FB-BE15D7976C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"/>
        <c:axId val="3"/>
      </c:line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000">
                <a:solidFill>
                  <a:srgbClr val="9EA2A2"/>
                </a:solidFill>
                <a:latin typeface="Calibri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2"/>
          <c:min val="0"/>
        </c:scaling>
        <c:delete val="0"/>
        <c:axPos val="l"/>
        <c:majorGridlines>
          <c:spPr>
            <a:ln w="6350">
              <a:solidFill>
                <a:srgbClr val="9EA2A2">
                  <a:alpha val="25000"/>
                </a:srgbClr>
              </a:solidFill>
            </a:ln>
          </c:spPr>
        </c:majorGridlines>
        <c:title>
          <c:tx>
            <c:rich>
              <a:bodyPr rot="-5400000" vert="horz"/>
              <a:lstStyle/>
              <a:p>
                <a:pPr>
                  <a:defRPr sz="1000">
                    <a:solidFill>
                      <a:srgbClr val="9EA2A2"/>
                    </a:solidFill>
                    <a:latin typeface="Calibri"/>
                  </a:defRPr>
                </a:pPr>
                <a:r>
                  <a:rPr lang="en-US" sz="1000" dirty="0">
                    <a:solidFill>
                      <a:srgbClr val="9EA2A2"/>
                    </a:solidFill>
                    <a:latin typeface="Calibri"/>
                  </a:rPr>
                  <a:t>Approval rate (%)</a:t>
                </a:r>
              </a:p>
            </c:rich>
          </c:tx>
          <c:overlay val="0"/>
        </c:title>
        <c:numFmt formatCode="0.0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9EA2A2"/>
                </a:solidFill>
                <a:latin typeface="Calibri"/>
              </a:defRPr>
            </a:pPr>
            <a:endParaRPr lang="en-US"/>
          </a:p>
        </c:txPr>
        <c:crossAx val="1"/>
        <c:crosses val="autoZero"/>
        <c:crossBetween val="between"/>
      </c:valAx>
      <c:valAx>
        <c:axId val="3"/>
        <c:scaling>
          <c:orientation val="minMax"/>
          <c:max val="14000"/>
          <c:min val="0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 sz="1000">
                    <a:solidFill>
                      <a:srgbClr val="9EA2A2"/>
                    </a:solidFill>
                    <a:latin typeface="Calibri"/>
                  </a:defRPr>
                </a:pPr>
                <a:r>
                  <a:rPr lang="en-US" sz="1000" dirty="0">
                    <a:solidFill>
                      <a:srgbClr val="9EA2A2"/>
                    </a:solidFill>
                    <a:latin typeface="Calibri"/>
                  </a:rPr>
                  <a:t>$ per approved account</a:t>
                </a:r>
              </a:p>
            </c:rich>
          </c:tx>
          <c:overlay val="0"/>
        </c:title>
        <c:numFmt formatCode="&quot;$&quot;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9EA2A2"/>
                </a:solidFill>
                <a:latin typeface="Calibri"/>
              </a:defRPr>
            </a:pPr>
            <a:endParaRPr lang="en-US"/>
          </a:p>
        </c:txPr>
        <c:crossAx val="1"/>
        <c:crosses val="max"/>
        <c:crossBetween val="between"/>
      </c:valAx>
      <c:spPr>
        <a:noFill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12121"/>
              </a:solidFill>
              <a:latin typeface="Calibri"/>
            </a:defRPr>
          </a:pPr>
          <a:endParaRPr lang="en-US"/>
        </a:p>
      </c:txPr>
    </c:legend>
    <c:plotVisOnly val="1"/>
    <c:dispBlanksAs val="zero"/>
    <c:showDLblsOverMax val="1"/>
  </c:chart>
  <c:spPr>
    <a:noFill/>
    <a:ln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 sz="1400" b="1">
                <a:solidFill>
                  <a:srgbClr val="003168"/>
                </a:solidFill>
                <a:latin typeface="Calibri"/>
              </a:defRPr>
            </a:pPr>
            <a:r>
              <a:rPr lang="en-US" sz="1400" b="1" dirty="0">
                <a:solidFill>
                  <a:srgbClr val="003168"/>
                </a:solidFill>
                <a:latin typeface="Calibri"/>
              </a:rPr>
              <a:t>Approval rate by product: 1st best vs 2nd best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1st best</c:v>
          </c:tx>
          <c:spPr>
            <a:solidFill>
              <a:srgbClr val="0051A5"/>
            </a:solidFill>
            <a:ln>
              <a:noFill/>
            </a:ln>
          </c:spPr>
          <c:invertIfNegative val="1"/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212121"/>
                    </a:solidFill>
                    <a:latin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6"/>
              <c:pt idx="0">
                <c:v>CLO</c:v>
              </c:pt>
              <c:pt idx="1">
                <c:v>GCP</c:v>
              </c:pt>
              <c:pt idx="2">
                <c:v>IAV</c:v>
              </c:pt>
              <c:pt idx="3">
                <c:v>ION</c:v>
              </c:pt>
              <c:pt idx="4">
                <c:v>IOP</c:v>
              </c:pt>
              <c:pt idx="5">
                <c:v>MC1</c:v>
              </c:pt>
            </c:strLit>
          </c:cat>
          <c:val>
            <c:numLit>
              <c:formatCode>0.00"%"</c:formatCode>
              <c:ptCount val="6"/>
              <c:pt idx="0">
                <c:v>2.7</c:v>
              </c:pt>
              <c:pt idx="1">
                <c:v>0.92</c:v>
              </c:pt>
              <c:pt idx="2">
                <c:v>0.56000000000000005</c:v>
              </c:pt>
              <c:pt idx="3">
                <c:v>1.75</c:v>
              </c:pt>
              <c:pt idx="4">
                <c:v>1.98</c:v>
              </c:pt>
              <c:pt idx="5">
                <c:v>0.9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59CA-47F3-AFCA-0ACE8AC029D5}"/>
            </c:ext>
          </c:extLst>
        </c:ser>
        <c:ser>
          <c:idx val="1"/>
          <c:order val="1"/>
          <c:tx>
            <c:v>2nd best</c:v>
          </c:tx>
          <c:spPr>
            <a:solidFill>
              <a:srgbClr val="FFC72C"/>
            </a:solidFill>
            <a:ln>
              <a:noFill/>
            </a:ln>
          </c:spPr>
          <c:invertIfNegative val="1"/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212121"/>
                    </a:solidFill>
                    <a:latin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6"/>
              <c:pt idx="0">
                <c:v>CLO</c:v>
              </c:pt>
              <c:pt idx="1">
                <c:v>GCP</c:v>
              </c:pt>
              <c:pt idx="2">
                <c:v>IAV</c:v>
              </c:pt>
              <c:pt idx="3">
                <c:v>ION</c:v>
              </c:pt>
              <c:pt idx="4">
                <c:v>IOP</c:v>
              </c:pt>
              <c:pt idx="5">
                <c:v>MC1</c:v>
              </c:pt>
            </c:strLit>
          </c:cat>
          <c:val>
            <c:numLit>
              <c:formatCode>0.00"%"</c:formatCode>
              <c:ptCount val="6"/>
              <c:pt idx="0">
                <c:v>1.78</c:v>
              </c:pt>
              <c:pt idx="1">
                <c:v>1.63</c:v>
              </c:pt>
              <c:pt idx="2">
                <c:v>1.62</c:v>
              </c:pt>
              <c:pt idx="3">
                <c:v>1.53</c:v>
              </c:pt>
              <c:pt idx="4">
                <c:v>0.59</c:v>
              </c:pt>
              <c:pt idx="5">
                <c:v>0.96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59CA-47F3-AFCA-0ACE8AC029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"/>
        <c:axId val="11"/>
      </c:barChart>
      <c:catAx>
        <c:axId val="1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000">
                <a:solidFill>
                  <a:srgbClr val="9EA2A2"/>
                </a:solidFill>
                <a:latin typeface="Calibri"/>
              </a:defRPr>
            </a:pPr>
            <a:endParaRPr lang="en-US"/>
          </a:p>
        </c:txPr>
        <c:crossAx val="11"/>
        <c:crosses val="autoZero"/>
        <c:auto val="1"/>
        <c:lblAlgn val="ctr"/>
        <c:lblOffset val="100"/>
        <c:noMultiLvlLbl val="1"/>
      </c:catAx>
      <c:valAx>
        <c:axId val="11"/>
        <c:scaling>
          <c:orientation val="minMax"/>
          <c:max val="3"/>
          <c:min val="0"/>
        </c:scaling>
        <c:delete val="0"/>
        <c:axPos val="l"/>
        <c:majorGridlines>
          <c:spPr>
            <a:ln w="6350">
              <a:solidFill>
                <a:srgbClr val="9EA2A2">
                  <a:alpha val="25000"/>
                </a:srgbClr>
              </a:solidFill>
            </a:ln>
          </c:spPr>
        </c:majorGridlines>
        <c:title>
          <c:tx>
            <c:rich>
              <a:bodyPr rot="-5400000" vert="horz"/>
              <a:lstStyle/>
              <a:p>
                <a:pPr>
                  <a:defRPr sz="1000">
                    <a:solidFill>
                      <a:srgbClr val="9EA2A2"/>
                    </a:solidFill>
                    <a:latin typeface="Calibri"/>
                  </a:defRPr>
                </a:pPr>
                <a:r>
                  <a:rPr lang="en-US" sz="1000" dirty="0">
                    <a:solidFill>
                      <a:srgbClr val="9EA2A2"/>
                    </a:solidFill>
                    <a:latin typeface="Calibri"/>
                  </a:rPr>
                  <a:t>Approval rate (%)</a:t>
                </a:r>
              </a:p>
            </c:rich>
          </c:tx>
          <c:overlay val="0"/>
        </c:title>
        <c:numFmt formatCode="0.0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9EA2A2"/>
                </a:solidFill>
                <a:latin typeface="Calibri"/>
              </a:defRPr>
            </a:pPr>
            <a:endParaRPr lang="en-US"/>
          </a:p>
        </c:txPr>
        <c:crossAx val="10"/>
        <c:crosses val="autoZero"/>
        <c:crossBetween val="between"/>
      </c:valAx>
      <c:spPr>
        <a:noFill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212121"/>
              </a:solidFill>
              <a:latin typeface="Calibri"/>
            </a:defRPr>
          </a:pPr>
          <a:endParaRPr lang="en-US"/>
        </a:p>
      </c:txPr>
    </c:legend>
    <c:plotVisOnly val="1"/>
    <c:dispBlanksAs val="zero"/>
    <c:showDLblsOverMax val="1"/>
  </c:chart>
  <c:spPr>
    <a:noFill/>
    <a:ln>
      <a:noFill/>
    </a:ln>
  </c:spPr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B49E8-0211-CDD5-BAB1-429F1EE4A3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83E12F-B786-CDCB-D189-E8DDD39C46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E5EA84-4E5E-0CA9-DC92-2A47D210C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3F230-56EE-4462-B866-CE62E4BA92D0}" type="datetimeFigureOut">
              <a:rPr lang="en-CA" smtClean="0"/>
              <a:t>2026-04-14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3A4E31-89A0-A5FD-0629-D94747697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3460EC-0FD8-8994-A040-49A66C5A6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E690-85E3-4B45-9BCD-3BBA24B815B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63551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06C36-C02D-0821-8028-799088827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96B88F-7F58-217B-D68C-7A814C3EF1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88ABC-A4C1-55D2-ACB3-4F52F4FCD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3F230-56EE-4462-B866-CE62E4BA92D0}" type="datetimeFigureOut">
              <a:rPr lang="en-CA" smtClean="0"/>
              <a:t>2026-04-14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0D4AAF-3D53-74E6-F2CF-6DC291E5F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7AA1C4-D45A-96B8-ACC5-2168E9493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E690-85E3-4B45-9BCD-3BBA24B815B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53909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F5981-8E4D-32BA-4911-7AEDB6804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8C9C92-8B77-601E-5B7B-097F6AEB27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39A7FB-8F13-A3E3-4A19-AD1CDC5D8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3F230-56EE-4462-B866-CE62E4BA92D0}" type="datetimeFigureOut">
              <a:rPr lang="en-CA" smtClean="0"/>
              <a:t>2026-04-14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C0BD51-76C0-7C35-1BEC-672766621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877A94-48B1-6041-276B-F943299CB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E690-85E3-4B45-9BCD-3BBA24B815B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42741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F53E0-53D7-82E8-2F01-48406443A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E42D4-B099-1370-5E3D-0D21F5EFAB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55F3C2-04A0-9C07-CBFC-214F955FEC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441927-0877-0D66-8FC2-E2C8A3136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3F230-56EE-4462-B866-CE62E4BA92D0}" type="datetimeFigureOut">
              <a:rPr lang="en-CA" smtClean="0"/>
              <a:t>2026-04-14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022E89-2002-39E7-5CC5-DE4DA93C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A03487-AFC0-72F6-DA94-9ACE25FC5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E690-85E3-4B45-9BCD-3BBA24B815B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3317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33E0A-9B4B-F8A6-C6F5-704F9EAE1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2CFC4A-3496-C7F2-B318-8D824034A3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8E011-C3E3-46A2-9B27-763DB88D73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AF1B86-C8CB-9C83-D7DD-9A26671267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50E858-EECC-4985-AB9D-BF2874C539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476A71-80EE-C746-702D-4E6F2AF51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3F230-56EE-4462-B866-CE62E4BA92D0}" type="datetimeFigureOut">
              <a:rPr lang="en-CA" smtClean="0"/>
              <a:t>2026-04-14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87D81D-6641-82C9-9561-2CC345021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794640-C8CD-2053-3457-87DD681D4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E690-85E3-4B45-9BCD-3BBA24B815B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342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5149C-8E9A-B8D7-04CE-EA7D882BE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15A14A-5FBE-6E12-406C-C3ABB71A9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3F230-56EE-4462-B866-CE62E4BA92D0}" type="datetimeFigureOut">
              <a:rPr lang="en-CA" smtClean="0"/>
              <a:t>2026-04-14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E6D3DA-6A31-FD8B-20B2-02BEAB5D4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451363-72B0-B4B7-9D9C-2B11A0338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E690-85E3-4B45-9BCD-3BBA24B815B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91686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ED05FF-55D2-F0E0-B036-8E2349E49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3F230-56EE-4462-B866-CE62E4BA92D0}" type="datetimeFigureOut">
              <a:rPr lang="en-CA" smtClean="0"/>
              <a:t>2026-04-14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8AC59-E6EA-E41B-CD89-38D3B767A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E94D1B-86B2-9E5B-DB29-478CA834E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E690-85E3-4B45-9BCD-3BBA24B815B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43904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6EE93-6E4B-AAC0-1D0E-38E76740D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29D8E-84E5-700B-7727-192BD42A1A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BFD2F6-37DC-BF9D-6423-3B733C3094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0FFE1F-4BF2-9CD1-CBA0-6F9B69A06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3F230-56EE-4462-B866-CE62E4BA92D0}" type="datetimeFigureOut">
              <a:rPr lang="en-CA" smtClean="0"/>
              <a:t>2026-04-14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2E1C9C-DBE7-4A13-4275-16C3DA608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F75859-6EEE-F88A-BC47-3922B652C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E690-85E3-4B45-9BCD-3BBA24B815B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35700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96FAA-C402-3CFD-B938-F9AA5CAC3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79751A-5C56-3467-DFC1-2959C91B2B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764B30-41FD-6614-29A1-C5CE435FA0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FF0F6-7E32-D795-F66A-6C349505B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3F230-56EE-4462-B866-CE62E4BA92D0}" type="datetimeFigureOut">
              <a:rPr lang="en-CA" smtClean="0"/>
              <a:t>2026-04-14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20CBCA-4544-AC35-23D5-40A0BE187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B53E63-DDBC-7EE6-54A9-29C672FC8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E690-85E3-4B45-9BCD-3BBA24B815B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08724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77059-65E6-EE5B-40B7-FC001A72B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E7D9D3-3CE2-F87D-C3E7-D3A97080A7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B5760-29D5-5881-5D0F-0BD74F6A5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3F230-56EE-4462-B866-CE62E4BA92D0}" type="datetimeFigureOut">
              <a:rPr lang="en-CA" smtClean="0"/>
              <a:t>2026-04-14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BE5166-3C89-9083-584E-A01BA8DED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03BFC7-E514-D076-4941-4FF3C9A9D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E690-85E3-4B45-9BCD-3BBA24B815B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25770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F25346-FE46-522C-9A94-8DF687A4CB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611DAB-952B-BDEC-0774-AE32B8AC22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A0C10F-21EE-2102-B6A0-28D3AC3B5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3F230-56EE-4462-B866-CE62E4BA92D0}" type="datetimeFigureOut">
              <a:rPr lang="en-CA" smtClean="0"/>
              <a:t>2026-04-14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EA68E8-98AE-5587-4538-4DB25D46E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14C62A-3186-0D1E-D52E-0B3D57A7A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E690-85E3-4B45-9BCD-3BBA24B815B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988324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B49E8-0211-CDD5-BAB1-429F1EE4A3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83E12F-B786-CDCB-D189-E8DDD39C46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E5EA84-4E5E-0CA9-DC92-2A47D210C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3F230-56EE-4462-B866-CE62E4BA92D0}" type="datetimeFigureOut">
              <a:rPr lang="en-CA" smtClean="0"/>
              <a:t>2026-04-14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3A4E31-89A0-A5FD-0629-D94747697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3460EC-0FD8-8994-A040-49A66C5A6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E690-85E3-4B45-9BCD-3BBA24B815B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635519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06C36-C02D-0821-8028-799088827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96B88F-7F58-217B-D68C-7A814C3EF1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88ABC-A4C1-55D2-ACB3-4F52F4FCD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3F230-56EE-4462-B866-CE62E4BA92D0}" type="datetimeFigureOut">
              <a:rPr lang="en-CA" smtClean="0"/>
              <a:t>2026-04-14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0D4AAF-3D53-74E6-F2CF-6DC291E5F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7AA1C4-D45A-96B8-ACC5-2168E9493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E690-85E3-4B45-9BCD-3BBA24B815B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539095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F5981-8E4D-32BA-4911-7AEDB6804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8C9C92-8B77-601E-5B7B-097F6AEB27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39A7FB-8F13-A3E3-4A19-AD1CDC5D8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3F230-56EE-4462-B866-CE62E4BA92D0}" type="datetimeFigureOut">
              <a:rPr lang="en-CA" smtClean="0"/>
              <a:t>2026-04-14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C0BD51-76C0-7C35-1BEC-672766621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877A94-48B1-6041-276B-F943299CB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E690-85E3-4B45-9BCD-3BBA24B815B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427410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F53E0-53D7-82E8-2F01-48406443A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E42D4-B099-1370-5E3D-0D21F5EFAB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55F3C2-04A0-9C07-CBFC-214F955FEC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441927-0877-0D66-8FC2-E2C8A3136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3F230-56EE-4462-B866-CE62E4BA92D0}" type="datetimeFigureOut">
              <a:rPr lang="en-CA" smtClean="0"/>
              <a:t>2026-04-14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022E89-2002-39E7-5CC5-DE4DA93C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A03487-AFC0-72F6-DA94-9ACE25FC5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E690-85E3-4B45-9BCD-3BBA24B815B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33176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33E0A-9B4B-F8A6-C6F5-704F9EAE1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2CFC4A-3496-C7F2-B318-8D824034A3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8E011-C3E3-46A2-9B27-763DB88D73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AF1B86-C8CB-9C83-D7DD-9A26671267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50E858-EECC-4985-AB9D-BF2874C539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476A71-80EE-C746-702D-4E6F2AF51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3F230-56EE-4462-B866-CE62E4BA92D0}" type="datetimeFigureOut">
              <a:rPr lang="en-CA" smtClean="0"/>
              <a:t>2026-04-14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87D81D-6641-82C9-9561-2CC345021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794640-C8CD-2053-3457-87DD681D4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E690-85E3-4B45-9BCD-3BBA24B815B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3421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5149C-8E9A-B8D7-04CE-EA7D882BE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15A14A-5FBE-6E12-406C-C3ABB71A9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3F230-56EE-4462-B866-CE62E4BA92D0}" type="datetimeFigureOut">
              <a:rPr lang="en-CA" smtClean="0"/>
              <a:t>2026-04-14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E6D3DA-6A31-FD8B-20B2-02BEAB5D4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451363-72B0-B4B7-9D9C-2B11A0338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E690-85E3-4B45-9BCD-3BBA24B815B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916867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ED05FF-55D2-F0E0-B036-8E2349E49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3F230-56EE-4462-B866-CE62E4BA92D0}" type="datetimeFigureOut">
              <a:rPr lang="en-CA" smtClean="0"/>
              <a:t>2026-04-14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8AC59-E6EA-E41B-CD89-38D3B767A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E94D1B-86B2-9E5B-DB29-478CA834E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E690-85E3-4B45-9BCD-3BBA24B815B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439040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6EE93-6E4B-AAC0-1D0E-38E76740D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29D8E-84E5-700B-7727-192BD42A1A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BFD2F6-37DC-BF9D-6423-3B733C3094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0FFE1F-4BF2-9CD1-CBA0-6F9B69A06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3F230-56EE-4462-B866-CE62E4BA92D0}" type="datetimeFigureOut">
              <a:rPr lang="en-CA" smtClean="0"/>
              <a:t>2026-04-14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2E1C9C-DBE7-4A13-4275-16C3DA608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F75859-6EEE-F88A-BC47-3922B652C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E690-85E3-4B45-9BCD-3BBA24B815B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3570068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96FAA-C402-3CFD-B938-F9AA5CAC3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79751A-5C56-3467-DFC1-2959C91B2B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764B30-41FD-6614-29A1-C5CE435FA0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FF0F6-7E32-D795-F66A-6C349505B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3F230-56EE-4462-B866-CE62E4BA92D0}" type="datetimeFigureOut">
              <a:rPr lang="en-CA" smtClean="0"/>
              <a:t>2026-04-14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20CBCA-4544-AC35-23D5-40A0BE187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B53E63-DDBC-7EE6-54A9-29C672FC8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E690-85E3-4B45-9BCD-3BBA24B815B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0872467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77059-65E6-EE5B-40B7-FC001A72B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E7D9D3-3CE2-F87D-C3E7-D3A97080A7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B5760-29D5-5881-5D0F-0BD74F6A5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3F230-56EE-4462-B866-CE62E4BA92D0}" type="datetimeFigureOut">
              <a:rPr lang="en-CA" smtClean="0"/>
              <a:t>2026-04-14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BE5166-3C89-9083-584E-A01BA8DED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03BFC7-E514-D076-4941-4FF3C9A9D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E690-85E3-4B45-9BCD-3BBA24B815B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257708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F25346-FE46-522C-9A94-8DF687A4CB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611DAB-952B-BDEC-0774-AE32B8AC22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A0C10F-21EE-2102-B6A0-28D3AC3B5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3F230-56EE-4462-B866-CE62E4BA92D0}" type="datetimeFigureOut">
              <a:rPr lang="en-CA" smtClean="0"/>
              <a:t>2026-04-14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EA68E8-98AE-5587-4538-4DB25D46E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14C62A-3186-0D1E-D52E-0B3D57A7A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E690-85E3-4B45-9BCD-3BBA24B815B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98832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A4288F-E0BF-274B-DF3F-BE3306114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A70C1F-198E-2E17-6FEE-C35F079622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5CC5BD-37BA-8FAD-20FB-45169B3AC9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73F230-56EE-4462-B866-CE62E4BA92D0}" type="datetimeFigureOut">
              <a:rPr lang="en-CA" smtClean="0"/>
              <a:t>2026-04-14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595153-C52F-5DAC-A8CA-741C1418B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7FE49-50F2-524A-87B3-D7A7C3E206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49E690-85E3-4B45-9BCD-3BBA24B815B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40540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A4288F-E0BF-274B-DF3F-BE3306114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A70C1F-198E-2E17-6FEE-C35F079622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5CC5BD-37BA-8FAD-20FB-45169B3AC9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73F230-56EE-4462-B866-CE62E4BA92D0}" type="datetimeFigureOut">
              <a:rPr lang="en-CA" smtClean="0"/>
              <a:t>2026-04-14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595153-C52F-5DAC-A8CA-741C1418B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7FE49-50F2-524A-87B3-D7A7C3E206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49E690-85E3-4B45-9BCD-3BBA24B815B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40540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03168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1212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21212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21212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1212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1212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1212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1212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1212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12121"/>
          </a:solidFill>
          <a:latin typeface="+mn-lt"/>
          <a:ea typeface="+mn-ea"/>
          <a:cs typeface="+mn-cs"/>
        </a:defRPr>
      </a:lvl9pPr>
    </p:bodyStyle>
    <p:otherStyle>
      <a:defPPr>
        <a:defRPr lang="en-US">
          <a:solidFill>
            <a:srgbClr val="212121"/>
          </a:solidFill>
        </a:defRPr>
      </a:defPPr>
      <a:lvl1pPr marL="0" algn="l" defTabSz="914400" rtl="0" eaLnBrk="1" latinLnBrk="0" hangingPunct="1">
        <a:defRPr sz="1800" kern="1200">
          <a:solidFill>
            <a:srgbClr val="21212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rgbClr val="21212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rgbClr val="21212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rgbClr val="21212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rgbClr val="21212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rgbClr val="21212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rgbClr val="21212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rgbClr val="21212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rgbClr val="21212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710E8DF-DE0D-48BD-9B90-EC4B128910D8}"/>
              </a:ext>
            </a:extLst>
          </p:cNvPr>
          <p:cNvSpPr txBox="1"/>
          <p:nvPr/>
        </p:nvSpPr>
        <p:spPr>
          <a:xfrm>
            <a:off x="381000" y="190500"/>
            <a:ext cx="1143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2800" b="1" dirty="0">
                <a:solidFill>
                  <a:srgbClr val="003168"/>
                </a:solidFill>
                <a:latin typeface="Calibri"/>
                <a:ea typeface="Calibri"/>
                <a:cs typeface="Calibri"/>
              </a:rPr>
              <a:t>PCQ Next Best Card — 1st best vs 2nd best results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6F5560-8DE9-4E76-8000-68DD737A8236}"/>
              </a:ext>
            </a:extLst>
          </p:cNvPr>
          <p:cNvSpPr txBox="1"/>
          <p:nvPr/>
        </p:nvSpPr>
        <p:spPr>
          <a:xfrm>
            <a:off x="381000" y="698500"/>
            <a:ext cx="1143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1400">
                <a:solidFill>
                  <a:srgbClr val="9EA2A2"/>
                </a:solidFill>
                <a:latin typeface="Calibri"/>
                <a:ea typeface="Calibri"/>
                <a:cs typeface="Calibri"/>
              </a:rPr>
              <a:t>Two deployment waves (Jan 9 and Feb 6, 2025). Approximately 14 months of tracking per client through Apr 14, 2026.</a:t>
            </a:r>
            <a:endParaRPr lang="en-CA" sz="1400">
              <a:solidFill>
                <a:srgbClr val="9EA2A2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101" name="Chart 1"/>
          <p:cNvGraphicFramePr/>
          <p:nvPr/>
        </p:nvGraphicFramePr>
        <p:xfrm>
          <a:off x="381000" y="1041400"/>
          <a:ext cx="5588000" cy="355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2" name="Callout Text"/>
          <p:cNvSpPr txBox="1"/>
          <p:nvPr/>
        </p:nvSpPr>
        <p:spPr>
          <a:xfrm>
            <a:off x="3302000" y="1841500"/>
            <a:ext cx="177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200" b="1" dirty="0">
                <a:solidFill>
                  <a:srgbClr val="FCA311"/>
                </a:solidFill>
                <a:latin typeface="Calibri"/>
              </a:rPr>
              <a:t>-22% per account</a:t>
            </a:r>
          </a:p>
        </p:txBody>
      </p:sp>
      <p:sp>
        <p:nvSpPr>
          <p:cNvPr id="103" name="Callout Arrow"/>
          <p:cNvSpPr/>
          <p:nvPr/>
        </p:nvSpPr>
        <p:spPr>
          <a:xfrm>
            <a:off x="4191000" y="2146300"/>
            <a:ext cx="127000" cy="393700"/>
          </a:xfrm>
          <a:prstGeom prst="line">
            <a:avLst/>
          </a:prstGeom>
          <a:ln w="19050">
            <a:solidFill>
              <a:srgbClr val="FCA311"/>
            </a:solidFill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tudy Scope Box"/>
          <p:cNvSpPr/>
          <p:nvPr/>
        </p:nvSpPr>
        <p:spPr>
          <a:xfrm>
            <a:off x="381000" y="4648200"/>
            <a:ext cx="11430000" cy="1460500"/>
          </a:xfrm>
          <a:prstGeom prst="rect">
            <a:avLst/>
          </a:prstGeom>
          <a:solidFill>
            <a:srgbClr val="003168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</a:rPr>
              <a:t>Study scope</a:t>
            </a:r>
          </a:p>
          <a:p>
            <a:pPr marL="171450" indent="-171450">
              <a:spcBef>
                <a:spcPts val="100"/>
              </a:spcBef>
              <a:buFont typeface="Arial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/>
              </a:rPr>
              <a:t>Test: 1st best vs 2nd best (both ranked by the NBA model)</a:t>
            </a:r>
          </a:p>
          <a:p>
            <a:pPr marL="171450" indent="-171450">
              <a:spcBef>
                <a:spcPts val="100"/>
              </a:spcBef>
              <a:buFont typeface="Arial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/>
              </a:rPr>
              <a:t>Deployment: two waves on Jan 9, 2025 and Feb 6, 2025</a:t>
            </a:r>
          </a:p>
          <a:p>
            <a:pPr marL="171450" indent="-171450">
              <a:spcBef>
                <a:spcPts val="100"/>
              </a:spcBef>
              <a:buFont typeface="Arial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/>
              </a:rPr>
              <a:t>Measurement period: from deployment through Apr 14, 2026 (average ~14 months per client)</a:t>
            </a:r>
          </a:p>
          <a:p>
            <a:pPr marL="171450" indent="-171450">
              <a:spcBef>
                <a:spcPts val="100"/>
              </a:spcBef>
              <a:buFont typeface="Arial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/>
              </a:rPr>
              <a:t>Population: campaign-approved accounts</a:t>
            </a:r>
          </a:p>
        </p:txBody>
      </p:sp>
      <p:sp>
        <p:nvSpPr>
          <p:cNvPr id="111" name="Footer"/>
          <p:cNvSpPr txBox="1"/>
          <p:nvPr/>
        </p:nvSpPr>
        <p:spPr>
          <a:xfrm>
            <a:off x="381000" y="61341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dirty="0">
                <a:solidFill>
                  <a:srgbClr val="9EA2A2"/>
                </a:solidFill>
                <a:latin typeface="Calibri"/>
              </a:rPr>
              <a:t>Source: DL_MR_PROD.cards_tpa_pcq_decision_resp x D3CV12A.DLY_FULL_PORTFOLIO  |  Campaign-approved accounts only  |  Run date 2026-04-14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692F7FD-B9E0-4AFE-A649-42D8F9962DED}"/>
              </a:ext>
            </a:extLst>
          </p:cNvPr>
          <p:cNvGraphicFramePr>
            <a:graphicFrameLocks noGrp="1"/>
          </p:cNvGraphicFramePr>
          <p:nvPr/>
        </p:nvGraphicFramePr>
        <p:xfrm>
          <a:off x="6159500" y="1041400"/>
          <a:ext cx="5651500" cy="2286000"/>
        </p:xfrm>
        <a:graphic>
          <a:graphicData uri="http://schemas.openxmlformats.org/drawingml/2006/table">
            <a:tbl>
              <a:tblPr/>
              <a:tblGrid>
                <a:gridCol w="2540000">
                  <a:extLst>
                    <a:ext uri="{9D8B030D-6E8A-4147-A177-3AD203B41FA5}">
                      <a16:colId xmlns:a16="http://schemas.microsoft.com/office/drawing/2014/main" val="239455839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64187609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3370370323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1709740771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45720" marR="45720" marT="18288" marB="18288" anchor="ctr">
                    <a:lnL w="9525">
                      <a:solidFill>
                        <a:srgbClr val="9EA2A2"/>
                      </a:solidFill>
                    </a:lnL>
                    <a:lnR w="6350">
                      <a:solidFill>
                        <a:srgbClr val="9EA2A2"/>
                      </a:solidFill>
                    </a:lnR>
                    <a:lnT w="9525">
                      <a:solidFill>
                        <a:srgbClr val="9EA2A2"/>
                      </a:solidFill>
                    </a:lnT>
                    <a:lnB w="6350">
                      <a:solidFill>
                        <a:srgbClr val="9EA2A2"/>
                      </a:solidFill>
                    </a:lnB>
                    <a:solidFill>
                      <a:srgbClr val="0051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1st best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9EA2A2"/>
                      </a:solidFill>
                    </a:lnL>
                    <a:lnR w="6350">
                      <a:solidFill>
                        <a:srgbClr val="9EA2A2"/>
                      </a:solidFill>
                    </a:lnR>
                    <a:lnT w="9525">
                      <a:solidFill>
                        <a:srgbClr val="9EA2A2"/>
                      </a:solidFill>
                    </a:lnT>
                    <a:lnB w="6350">
                      <a:solidFill>
                        <a:srgbClr val="9EA2A2"/>
                      </a:solidFill>
                    </a:lnB>
                    <a:solidFill>
                      <a:srgbClr val="0051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2nd best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9EA2A2"/>
                      </a:solidFill>
                    </a:lnL>
                    <a:lnR w="6350">
                      <a:solidFill>
                        <a:srgbClr val="9EA2A2"/>
                      </a:solidFill>
                    </a:lnR>
                    <a:lnT w="9525">
                      <a:solidFill>
                        <a:srgbClr val="9EA2A2"/>
                      </a:solidFill>
                    </a:lnT>
                    <a:lnB w="6350">
                      <a:solidFill>
                        <a:srgbClr val="9EA2A2"/>
                      </a:solidFill>
                    </a:lnB>
                    <a:solidFill>
                      <a:srgbClr val="0051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9EA2A2"/>
                      </a:solidFill>
                    </a:lnL>
                    <a:lnR w="9525">
                      <a:solidFill>
                        <a:srgbClr val="9EA2A2"/>
                      </a:solidFill>
                    </a:lnR>
                    <a:lnT w="9525">
                      <a:solidFill>
                        <a:srgbClr val="9EA2A2"/>
                      </a:solidFill>
                    </a:lnT>
                    <a:lnB w="6350">
                      <a:solidFill>
                        <a:srgbClr val="9EA2A2"/>
                      </a:solidFill>
                    </a:lnB>
                    <a:solidFill>
                      <a:srgbClr val="0051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5359788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/>
                        </a:rPr>
                        <a:t>Deployed</a:t>
                      </a:r>
                    </a:p>
                  </a:txBody>
                  <a:tcPr marL="45720" marR="45720" marT="18288" marB="18288" anchor="ctr">
                    <a:lnL w="9525">
                      <a:solidFill>
                        <a:srgbClr val="9EA2A2"/>
                      </a:solidFill>
                    </a:lnL>
                    <a:lnR w="6350">
                      <a:solidFill>
                        <a:srgbClr val="9EA2A2"/>
                      </a:solidFill>
                    </a:lnR>
                    <a:lnT w="6350">
                      <a:solidFill>
                        <a:srgbClr val="9EA2A2"/>
                      </a:solidFill>
                    </a:lnT>
                    <a:lnB w="6350">
                      <a:solidFill>
                        <a:srgbClr val="9EA2A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/>
                        </a:rPr>
                        <a:t>332,821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9EA2A2"/>
                      </a:solidFill>
                    </a:lnL>
                    <a:lnR w="6350">
                      <a:solidFill>
                        <a:srgbClr val="9EA2A2"/>
                      </a:solidFill>
                    </a:lnR>
                    <a:lnT w="6350">
                      <a:solidFill>
                        <a:srgbClr val="9EA2A2"/>
                      </a:solidFill>
                    </a:lnT>
                    <a:lnB w="6350">
                      <a:solidFill>
                        <a:srgbClr val="9EA2A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/>
                        </a:rPr>
                        <a:t>232,555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9EA2A2"/>
                      </a:solidFill>
                    </a:lnL>
                    <a:lnR w="6350">
                      <a:solidFill>
                        <a:srgbClr val="9EA2A2"/>
                      </a:solidFill>
                    </a:lnR>
                    <a:lnT w="6350">
                      <a:solidFill>
                        <a:srgbClr val="9EA2A2"/>
                      </a:solidFill>
                    </a:lnT>
                    <a:lnB w="6350">
                      <a:solidFill>
                        <a:srgbClr val="9EA2A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9EA2A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9EA2A2"/>
                      </a:solidFill>
                    </a:lnL>
                    <a:lnR w="9525">
                      <a:solidFill>
                        <a:srgbClr val="9EA2A2"/>
                      </a:solidFill>
                    </a:lnR>
                    <a:lnT w="6350">
                      <a:solidFill>
                        <a:srgbClr val="9EA2A2"/>
                      </a:solidFill>
                    </a:lnT>
                    <a:lnB w="6350">
                      <a:solidFill>
                        <a:srgbClr val="9EA2A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116204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/>
                        </a:rPr>
                        <a:t>Approved</a:t>
                      </a:r>
                    </a:p>
                  </a:txBody>
                  <a:tcPr marL="45720" marR="45720" marT="18288" marB="18288" anchor="ctr">
                    <a:lnL w="9525">
                      <a:solidFill>
                        <a:srgbClr val="9EA2A2"/>
                      </a:solidFill>
                    </a:lnL>
                    <a:lnR w="6350">
                      <a:solidFill>
                        <a:srgbClr val="9EA2A2"/>
                      </a:solidFill>
                    </a:lnR>
                    <a:lnT w="6350">
                      <a:solidFill>
                        <a:srgbClr val="9EA2A2"/>
                      </a:solidFill>
                    </a:lnT>
                    <a:lnB w="6350">
                      <a:solidFill>
                        <a:srgbClr val="9EA2A2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/>
                        </a:rPr>
                        <a:t>3,491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9EA2A2"/>
                      </a:solidFill>
                    </a:lnL>
                    <a:lnR w="6350">
                      <a:solidFill>
                        <a:srgbClr val="9EA2A2"/>
                      </a:solidFill>
                    </a:lnR>
                    <a:lnT w="6350">
                      <a:solidFill>
                        <a:srgbClr val="9EA2A2"/>
                      </a:solidFill>
                    </a:lnT>
                    <a:lnB w="6350">
                      <a:solidFill>
                        <a:srgbClr val="9EA2A2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/>
                        </a:rPr>
                        <a:t>2,438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9EA2A2"/>
                      </a:solidFill>
                    </a:lnL>
                    <a:lnR w="6350">
                      <a:solidFill>
                        <a:srgbClr val="9EA2A2"/>
                      </a:solidFill>
                    </a:lnR>
                    <a:lnT w="6350">
                      <a:solidFill>
                        <a:srgbClr val="9EA2A2"/>
                      </a:solidFill>
                    </a:lnT>
                    <a:lnB w="6350">
                      <a:solidFill>
                        <a:srgbClr val="9EA2A2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9EA2A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9EA2A2"/>
                      </a:solidFill>
                    </a:lnL>
                    <a:lnR w="9525">
                      <a:solidFill>
                        <a:srgbClr val="9EA2A2"/>
                      </a:solidFill>
                    </a:lnR>
                    <a:lnT w="6350">
                      <a:solidFill>
                        <a:srgbClr val="9EA2A2"/>
                      </a:solidFill>
                    </a:lnT>
                    <a:lnB w="6350">
                      <a:solidFill>
                        <a:srgbClr val="9EA2A2"/>
                      </a:solidFill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7403685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/>
                        </a:rPr>
                        <a:t>Approval rate</a:t>
                      </a:r>
                    </a:p>
                  </a:txBody>
                  <a:tcPr marL="45720" marR="45720" marT="18288" marB="18288" anchor="ctr">
                    <a:lnL w="9525">
                      <a:solidFill>
                        <a:srgbClr val="9EA2A2"/>
                      </a:solidFill>
                    </a:lnL>
                    <a:lnR w="6350">
                      <a:solidFill>
                        <a:srgbClr val="9EA2A2"/>
                      </a:solidFill>
                    </a:lnR>
                    <a:lnT w="6350">
                      <a:solidFill>
                        <a:srgbClr val="9EA2A2"/>
                      </a:solidFill>
                    </a:lnT>
                    <a:lnB w="6350">
                      <a:solidFill>
                        <a:srgbClr val="9EA2A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/>
                        </a:rPr>
                        <a:t>1.05%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9EA2A2"/>
                      </a:solidFill>
                    </a:lnL>
                    <a:lnR w="6350">
                      <a:solidFill>
                        <a:srgbClr val="9EA2A2"/>
                      </a:solidFill>
                    </a:lnR>
                    <a:lnT w="6350">
                      <a:solidFill>
                        <a:srgbClr val="9EA2A2"/>
                      </a:solidFill>
                    </a:lnT>
                    <a:lnB w="6350">
                      <a:solidFill>
                        <a:srgbClr val="9EA2A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/>
                        </a:rPr>
                        <a:t>1.05%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9EA2A2"/>
                      </a:solidFill>
                    </a:lnL>
                    <a:lnR w="6350">
                      <a:solidFill>
                        <a:srgbClr val="9EA2A2"/>
                      </a:solidFill>
                    </a:lnR>
                    <a:lnT w="6350">
                      <a:solidFill>
                        <a:srgbClr val="9EA2A2"/>
                      </a:solidFill>
                    </a:lnT>
                    <a:lnB w="6350">
                      <a:solidFill>
                        <a:srgbClr val="9EA2A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9EA2A2"/>
                          </a:solidFill>
                          <a:latin typeface="Calibri"/>
                        </a:rPr>
                        <a:t>+0.00 pp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9EA2A2"/>
                      </a:solidFill>
                    </a:lnL>
                    <a:lnR w="9525">
                      <a:solidFill>
                        <a:srgbClr val="9EA2A2"/>
                      </a:solidFill>
                    </a:lnR>
                    <a:lnT w="6350">
                      <a:solidFill>
                        <a:srgbClr val="9EA2A2"/>
                      </a:solidFill>
                    </a:lnT>
                    <a:lnB w="6350">
                      <a:solidFill>
                        <a:srgbClr val="9EA2A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3729095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/>
                        </a:rPr>
                        <a:t>Total spend (lifetime)</a:t>
                      </a:r>
                    </a:p>
                  </a:txBody>
                  <a:tcPr marL="45720" marR="45720" marT="18288" marB="18288" anchor="ctr">
                    <a:lnL w="9525">
                      <a:solidFill>
                        <a:srgbClr val="9EA2A2"/>
                      </a:solidFill>
                    </a:lnL>
                    <a:lnR w="6350">
                      <a:solidFill>
                        <a:srgbClr val="9EA2A2"/>
                      </a:solidFill>
                    </a:lnR>
                    <a:lnT w="6350">
                      <a:solidFill>
                        <a:srgbClr val="9EA2A2"/>
                      </a:solidFill>
                    </a:lnT>
                    <a:lnB w="6350">
                      <a:solidFill>
                        <a:srgbClr val="9EA2A2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/>
                        </a:rPr>
                        <a:t>$40,585,752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9EA2A2"/>
                      </a:solidFill>
                    </a:lnL>
                    <a:lnR w="6350">
                      <a:solidFill>
                        <a:srgbClr val="9EA2A2"/>
                      </a:solidFill>
                    </a:lnR>
                    <a:lnT w="6350">
                      <a:solidFill>
                        <a:srgbClr val="9EA2A2"/>
                      </a:solidFill>
                    </a:lnT>
                    <a:lnB w="6350">
                      <a:solidFill>
                        <a:srgbClr val="9EA2A2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/>
                        </a:rPr>
                        <a:t>$22,052,690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9EA2A2"/>
                      </a:solidFill>
                    </a:lnL>
                    <a:lnR w="6350">
                      <a:solidFill>
                        <a:srgbClr val="9EA2A2"/>
                      </a:solidFill>
                    </a:lnR>
                    <a:lnT w="6350">
                      <a:solidFill>
                        <a:srgbClr val="9EA2A2"/>
                      </a:solidFill>
                    </a:lnT>
                    <a:lnB w="6350">
                      <a:solidFill>
                        <a:srgbClr val="9EA2A2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9EA2A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9EA2A2"/>
                      </a:solidFill>
                    </a:lnL>
                    <a:lnR w="9525">
                      <a:solidFill>
                        <a:srgbClr val="9EA2A2"/>
                      </a:solidFill>
                    </a:lnR>
                    <a:lnT w="6350">
                      <a:solidFill>
                        <a:srgbClr val="9EA2A2"/>
                      </a:solidFill>
                    </a:lnT>
                    <a:lnB w="6350">
                      <a:solidFill>
                        <a:srgbClr val="9EA2A2"/>
                      </a:solidFill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0232213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/>
                        </a:rPr>
                        <a:t>Avg spend per approved</a:t>
                      </a:r>
                    </a:p>
                  </a:txBody>
                  <a:tcPr marL="45720" marR="45720" marT="18288" marB="18288" anchor="ctr">
                    <a:lnL w="9525">
                      <a:solidFill>
                        <a:srgbClr val="9EA2A2"/>
                      </a:solidFill>
                    </a:lnL>
                    <a:lnR w="6350">
                      <a:solidFill>
                        <a:srgbClr val="9EA2A2"/>
                      </a:solidFill>
                    </a:lnR>
                    <a:lnT w="6350">
                      <a:solidFill>
                        <a:srgbClr val="9EA2A2"/>
                      </a:solidFill>
                    </a:lnT>
                    <a:lnB w="6350">
                      <a:solidFill>
                        <a:srgbClr val="9EA2A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/>
                        </a:rPr>
                        <a:t>$11,625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9EA2A2"/>
                      </a:solidFill>
                    </a:lnL>
                    <a:lnR w="6350">
                      <a:solidFill>
                        <a:srgbClr val="9EA2A2"/>
                      </a:solidFill>
                    </a:lnR>
                    <a:lnT w="6350">
                      <a:solidFill>
                        <a:srgbClr val="9EA2A2"/>
                      </a:solidFill>
                    </a:lnT>
                    <a:lnB w="6350">
                      <a:solidFill>
                        <a:srgbClr val="9EA2A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/>
                        </a:rPr>
                        <a:t>$9,045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9EA2A2"/>
                      </a:solidFill>
                    </a:lnL>
                    <a:lnR w="6350">
                      <a:solidFill>
                        <a:srgbClr val="9EA2A2"/>
                      </a:solidFill>
                    </a:lnR>
                    <a:lnT w="6350">
                      <a:solidFill>
                        <a:srgbClr val="9EA2A2"/>
                      </a:solidFill>
                    </a:lnT>
                    <a:lnB w="6350">
                      <a:solidFill>
                        <a:srgbClr val="9EA2A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C8102E"/>
                          </a:solidFill>
                          <a:latin typeface="Calibri"/>
                        </a:rPr>
                        <a:t>−22%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9EA2A2"/>
                      </a:solidFill>
                    </a:lnL>
                    <a:lnR w="9525">
                      <a:solidFill>
                        <a:srgbClr val="9EA2A2"/>
                      </a:solidFill>
                    </a:lnR>
                    <a:lnT w="6350">
                      <a:solidFill>
                        <a:srgbClr val="9EA2A2"/>
                      </a:solidFill>
                    </a:lnT>
                    <a:lnB w="6350">
                      <a:solidFill>
                        <a:srgbClr val="9EA2A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8402636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/>
                        </a:rPr>
                        <a:t>Voluntary attrition rate</a:t>
                      </a:r>
                    </a:p>
                  </a:txBody>
                  <a:tcPr marL="45720" marR="45720" marT="18288" marB="18288" anchor="ctr">
                    <a:lnL w="9525">
                      <a:solidFill>
                        <a:srgbClr val="9EA2A2"/>
                      </a:solidFill>
                    </a:lnL>
                    <a:lnR w="6350">
                      <a:solidFill>
                        <a:srgbClr val="9EA2A2"/>
                      </a:solidFill>
                    </a:lnR>
                    <a:lnT w="6350">
                      <a:solidFill>
                        <a:srgbClr val="9EA2A2"/>
                      </a:solidFill>
                    </a:lnT>
                    <a:lnB w="6350">
                      <a:solidFill>
                        <a:srgbClr val="9EA2A2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/>
                        </a:rPr>
                        <a:t>5.64%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9EA2A2"/>
                      </a:solidFill>
                    </a:lnL>
                    <a:lnR w="6350">
                      <a:solidFill>
                        <a:srgbClr val="9EA2A2"/>
                      </a:solidFill>
                    </a:lnR>
                    <a:lnT w="6350">
                      <a:solidFill>
                        <a:srgbClr val="9EA2A2"/>
                      </a:solidFill>
                    </a:lnT>
                    <a:lnB w="6350">
                      <a:solidFill>
                        <a:srgbClr val="9EA2A2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/>
                        </a:rPr>
                        <a:t>5.58%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9EA2A2"/>
                      </a:solidFill>
                    </a:lnL>
                    <a:lnR w="6350">
                      <a:solidFill>
                        <a:srgbClr val="9EA2A2"/>
                      </a:solidFill>
                    </a:lnR>
                    <a:lnT w="6350">
                      <a:solidFill>
                        <a:srgbClr val="9EA2A2"/>
                      </a:solidFill>
                    </a:lnT>
                    <a:lnB w="6350">
                      <a:solidFill>
                        <a:srgbClr val="9EA2A2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C8102E"/>
                          </a:solidFill>
                          <a:latin typeface="Calibri"/>
                        </a:rPr>
                        <a:t>−0.06 pp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9EA2A2"/>
                      </a:solidFill>
                    </a:lnL>
                    <a:lnR w="9525">
                      <a:solidFill>
                        <a:srgbClr val="9EA2A2"/>
                      </a:solidFill>
                    </a:lnR>
                    <a:lnT w="6350">
                      <a:solidFill>
                        <a:srgbClr val="9EA2A2"/>
                      </a:solidFill>
                    </a:lnT>
                    <a:lnB w="6350">
                      <a:solidFill>
                        <a:srgbClr val="9EA2A2"/>
                      </a:solidFill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793198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/>
                        </a:rPr>
                        <a:t>Avg fee per approved</a:t>
                      </a:r>
                    </a:p>
                  </a:txBody>
                  <a:tcPr marL="45720" marR="45720" marT="18288" marB="18288" anchor="ctr">
                    <a:lnL w="9525">
                      <a:solidFill>
                        <a:srgbClr val="9EA2A2"/>
                      </a:solidFill>
                    </a:lnL>
                    <a:lnR w="6350">
                      <a:solidFill>
                        <a:srgbClr val="9EA2A2"/>
                      </a:solidFill>
                    </a:lnR>
                    <a:lnT w="6350">
                      <a:solidFill>
                        <a:srgbClr val="9EA2A2"/>
                      </a:solidFill>
                    </a:lnT>
                    <a:lnB w="9525">
                      <a:solidFill>
                        <a:srgbClr val="9EA2A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/>
                        </a:rPr>
                        <a:t>$93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9EA2A2"/>
                      </a:solidFill>
                    </a:lnL>
                    <a:lnR w="6350">
                      <a:solidFill>
                        <a:srgbClr val="9EA2A2"/>
                      </a:solidFill>
                    </a:lnR>
                    <a:lnT w="6350">
                      <a:solidFill>
                        <a:srgbClr val="9EA2A2"/>
                      </a:solidFill>
                    </a:lnT>
                    <a:lnB w="9525">
                      <a:solidFill>
                        <a:srgbClr val="9EA2A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/>
                        </a:rPr>
                        <a:t>$56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9EA2A2"/>
                      </a:solidFill>
                    </a:lnL>
                    <a:lnR w="6350">
                      <a:solidFill>
                        <a:srgbClr val="9EA2A2"/>
                      </a:solidFill>
                    </a:lnR>
                    <a:lnT w="6350">
                      <a:solidFill>
                        <a:srgbClr val="9EA2A2"/>
                      </a:solidFill>
                    </a:lnT>
                    <a:lnB w="9525">
                      <a:solidFill>
                        <a:srgbClr val="9EA2A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C8102E"/>
                          </a:solidFill>
                          <a:latin typeface="Calibri"/>
                        </a:rPr>
                        <a:t>−40%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9EA2A2"/>
                      </a:solidFill>
                    </a:lnL>
                    <a:lnR w="9525">
                      <a:solidFill>
                        <a:srgbClr val="9EA2A2"/>
                      </a:solidFill>
                    </a:lnR>
                    <a:lnT w="6350">
                      <a:solidFill>
                        <a:srgbClr val="9EA2A2"/>
                      </a:solidFill>
                    </a:lnT>
                    <a:lnB w="9525">
                      <a:solidFill>
                        <a:srgbClr val="9EA2A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7590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0617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DF8316-DC8B-453E-A72E-7CCB2E5B7ECF}"/>
              </a:ext>
            </a:extLst>
          </p:cNvPr>
          <p:cNvSpPr txBox="1"/>
          <p:nvPr/>
        </p:nvSpPr>
        <p:spPr>
          <a:xfrm>
            <a:off x="381000" y="190500"/>
            <a:ext cx="11430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CA" sz="2800" b="1">
                <a:solidFill>
                  <a:srgbClr val="003168"/>
                </a:solidFill>
                <a:latin typeface="Calibri"/>
                <a:ea typeface="Calibri"/>
                <a:cs typeface="Calibri"/>
              </a:rPr>
              <a:t>Appendix: product-level breakdown (back-pocket)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A86114-0BF4-487C-BC9B-70C87CE62AFF}"/>
              </a:ext>
            </a:extLst>
          </p:cNvPr>
          <p:cNvSpPr txBox="1"/>
          <p:nvPr/>
        </p:nvSpPr>
        <p:spPr>
          <a:xfrm>
            <a:off x="381000" y="647700"/>
            <a:ext cx="1143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1400" dirty="0">
                <a:solidFill>
                  <a:srgbClr val="9EA2A2"/>
                </a:solidFill>
                <a:latin typeface="Calibri"/>
                <a:ea typeface="Calibri"/>
                <a:cs typeface="Calibri"/>
              </a:rPr>
              <a:t>Campaign-approved accounts only. Product-level detail for reference. Lead with Slide 1 numbers.</a:t>
            </a:r>
          </a:p>
        </p:txBody>
      </p:sp>
      <p:graphicFrame>
        <p:nvGraphicFramePr>
          <p:cNvPr id="201" name="Chart 1"/>
          <p:cNvGraphicFramePr/>
          <p:nvPr/>
        </p:nvGraphicFramePr>
        <p:xfrm>
          <a:off x="381000" y="914400"/>
          <a:ext cx="11430000" cy="2476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10" name="Observations"/>
          <p:cNvSpPr txBox="1"/>
          <p:nvPr/>
        </p:nvSpPr>
        <p:spPr>
          <a:xfrm>
            <a:off x="381000" y="5334000"/>
            <a:ext cx="11430000" cy="1206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171450" indent="-171450">
              <a:spcBef>
                <a:spcPts val="100"/>
              </a:spcBef>
              <a:buFont typeface="Arial"/>
              <a:buChar char="•"/>
            </a:pPr>
            <a:r>
              <a:rPr lang="en-US" sz="1050" dirty="0">
                <a:solidFill>
                  <a:srgbClr val="212121"/>
                </a:solidFill>
                <a:latin typeface="Calibri"/>
              </a:rPr>
              <a:t>IAV: approval rate 0.56% → 1.62% (+1.06 pp); avg spend $16,918 → $18,228 (+8%); voluntary attrition 10.55% → 7.01%.</a:t>
            </a:r>
          </a:p>
          <a:p>
            <a:pPr marL="171450" indent="-171450">
              <a:spcBef>
                <a:spcPts val="100"/>
              </a:spcBef>
              <a:buFont typeface="Arial"/>
              <a:buChar char="•"/>
            </a:pPr>
            <a:r>
              <a:rPr lang="en-US" sz="1050" dirty="0">
                <a:solidFill>
                  <a:srgbClr val="212121"/>
                </a:solidFill>
                <a:latin typeface="Calibri"/>
              </a:rPr>
              <a:t>IOP: approval rate 1.98% → 0.59% (−1.39 pp); voluntary attrition 1.99% → 8.75% (≈4×).</a:t>
            </a:r>
          </a:p>
          <a:p>
            <a:pPr marL="171450" indent="-171450">
              <a:spcBef>
                <a:spcPts val="100"/>
              </a:spcBef>
              <a:buFont typeface="Arial"/>
              <a:buChar char="•"/>
            </a:pPr>
            <a:r>
              <a:rPr lang="en-US" sz="1050" dirty="0">
                <a:solidFill>
                  <a:srgbClr val="212121"/>
                </a:solidFill>
                <a:latin typeface="Calibri"/>
              </a:rPr>
              <a:t>GCP: approval rate 0.92% → 1.63% (+0.71 pp); voluntary attrition 9.24% → 14.29%.</a:t>
            </a:r>
          </a:p>
          <a:p>
            <a:pPr marL="171450" indent="-171450">
              <a:spcBef>
                <a:spcPts val="100"/>
              </a:spcBef>
              <a:buFont typeface="Arial"/>
              <a:buChar char="•"/>
            </a:pPr>
            <a:r>
              <a:rPr lang="en-US" sz="1050" dirty="0">
                <a:solidFill>
                  <a:srgbClr val="212121"/>
                </a:solidFill>
                <a:latin typeface="Calibri"/>
              </a:rPr>
              <a:t>CLO: approval rate 2.70% → 1.78% (−0.92 pp); avg spend $9,898 → $6,060 (−39%).</a:t>
            </a:r>
          </a:p>
          <a:p>
            <a:pPr marL="171450" indent="-171450">
              <a:spcBef>
                <a:spcPts val="100"/>
              </a:spcBef>
              <a:buFont typeface="Arial"/>
              <a:buChar char="•"/>
            </a:pPr>
            <a:r>
              <a:rPr lang="en-US" sz="1050" dirty="0">
                <a:solidFill>
                  <a:srgbClr val="212121"/>
                </a:solidFill>
                <a:latin typeface="Calibri"/>
              </a:rPr>
              <a:t>Populations are not evenly split — 332,821 clients in the 1st-best group vs 232,555 in the 2nd-best group — and product mix varies by group because each client sees their own model-derived 1st or 2nd pick. Product-level comparisons are descriptive, not matched A/B.</a:t>
            </a:r>
          </a:p>
        </p:txBody>
      </p:sp>
      <p:sp>
        <p:nvSpPr>
          <p:cNvPr id="211" name="Footer"/>
          <p:cNvSpPr txBox="1"/>
          <p:nvPr/>
        </p:nvSpPr>
        <p:spPr>
          <a:xfrm>
            <a:off x="381000" y="65659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dirty="0">
                <a:solidFill>
                  <a:srgbClr val="9EA2A2"/>
                </a:solidFill>
                <a:latin typeface="Calibri"/>
              </a:rPr>
              <a:t>Source: DL_MR_PROD.cards_tpa_pcq_decision_resp x D3CV12A.DLY_FULL_PORTFOLIO  |  Campaign-approved accounts only  |  Run date 2026-04-14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12EF25A-127F-447B-A1B8-E89835E06F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059377"/>
              </p:ext>
            </p:extLst>
          </p:nvPr>
        </p:nvGraphicFramePr>
        <p:xfrm>
          <a:off x="381000" y="3441700"/>
          <a:ext cx="11430000" cy="1828800"/>
        </p:xfrm>
        <a:graphic>
          <a:graphicData uri="http://schemas.openxmlformats.org/drawingml/2006/table">
            <a:tbl>
              <a:tblPr/>
              <a:tblGrid>
                <a:gridCol w="782052">
                  <a:extLst>
                    <a:ext uri="{9D8B030D-6E8A-4147-A177-3AD203B41FA5}">
                      <a16:colId xmlns:a16="http://schemas.microsoft.com/office/drawing/2014/main" val="4159942250"/>
                    </a:ext>
                  </a:extLst>
                </a:gridCol>
                <a:gridCol w="1112921">
                  <a:extLst>
                    <a:ext uri="{9D8B030D-6E8A-4147-A177-3AD203B41FA5}">
                      <a16:colId xmlns:a16="http://schemas.microsoft.com/office/drawing/2014/main" val="1807629377"/>
                    </a:ext>
                  </a:extLst>
                </a:gridCol>
                <a:gridCol w="1112921">
                  <a:extLst>
                    <a:ext uri="{9D8B030D-6E8A-4147-A177-3AD203B41FA5}">
                      <a16:colId xmlns:a16="http://schemas.microsoft.com/office/drawing/2014/main" val="3862481192"/>
                    </a:ext>
                  </a:extLst>
                </a:gridCol>
                <a:gridCol w="842210">
                  <a:extLst>
                    <a:ext uri="{9D8B030D-6E8A-4147-A177-3AD203B41FA5}">
                      <a16:colId xmlns:a16="http://schemas.microsoft.com/office/drawing/2014/main" val="865869827"/>
                    </a:ext>
                  </a:extLst>
                </a:gridCol>
                <a:gridCol w="842210">
                  <a:extLst>
                    <a:ext uri="{9D8B030D-6E8A-4147-A177-3AD203B41FA5}">
                      <a16:colId xmlns:a16="http://schemas.microsoft.com/office/drawing/2014/main" val="2407551879"/>
                    </a:ext>
                  </a:extLst>
                </a:gridCol>
                <a:gridCol w="962526">
                  <a:extLst>
                    <a:ext uri="{9D8B030D-6E8A-4147-A177-3AD203B41FA5}">
                      <a16:colId xmlns:a16="http://schemas.microsoft.com/office/drawing/2014/main" val="574613014"/>
                    </a:ext>
                  </a:extLst>
                </a:gridCol>
                <a:gridCol w="1112921">
                  <a:extLst>
                    <a:ext uri="{9D8B030D-6E8A-4147-A177-3AD203B41FA5}">
                      <a16:colId xmlns:a16="http://schemas.microsoft.com/office/drawing/2014/main" val="1308462643"/>
                    </a:ext>
                  </a:extLst>
                </a:gridCol>
                <a:gridCol w="1112921">
                  <a:extLst>
                    <a:ext uri="{9D8B030D-6E8A-4147-A177-3AD203B41FA5}">
                      <a16:colId xmlns:a16="http://schemas.microsoft.com/office/drawing/2014/main" val="3943565025"/>
                    </a:ext>
                  </a:extLst>
                </a:gridCol>
                <a:gridCol w="721894">
                  <a:extLst>
                    <a:ext uri="{9D8B030D-6E8A-4147-A177-3AD203B41FA5}">
                      <a16:colId xmlns:a16="http://schemas.microsoft.com/office/drawing/2014/main" val="1769225229"/>
                    </a:ext>
                  </a:extLst>
                </a:gridCol>
                <a:gridCol w="932446">
                  <a:extLst>
                    <a:ext uri="{9D8B030D-6E8A-4147-A177-3AD203B41FA5}">
                      <a16:colId xmlns:a16="http://schemas.microsoft.com/office/drawing/2014/main" val="3524114051"/>
                    </a:ext>
                  </a:extLst>
                </a:gridCol>
                <a:gridCol w="932446">
                  <a:extLst>
                    <a:ext uri="{9D8B030D-6E8A-4147-A177-3AD203B41FA5}">
                      <a16:colId xmlns:a16="http://schemas.microsoft.com/office/drawing/2014/main" val="1206024020"/>
                    </a:ext>
                  </a:extLst>
                </a:gridCol>
                <a:gridCol w="962532">
                  <a:extLst>
                    <a:ext uri="{9D8B030D-6E8A-4147-A177-3AD203B41FA5}">
                      <a16:colId xmlns:a16="http://schemas.microsoft.com/office/drawing/2014/main" val="2595655774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Product</a:t>
                      </a:r>
                    </a:p>
                  </a:txBody>
                  <a:tcPr marL="36576" marR="36576" marT="12700" marB="12700" anchor="ctr">
                    <a:lnTlToBr w="0"/>
                    <a:lnBlToTr w="0"/>
                    <a:solidFill>
                      <a:srgbClr val="0051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1st Deploy</a:t>
                      </a:r>
                    </a:p>
                  </a:txBody>
                  <a:tcPr marL="36576" marR="36576" marT="12700" marB="12700" anchor="ctr">
                    <a:lnTlToBr w="0"/>
                    <a:lnBlToTr w="0"/>
                    <a:solidFill>
                      <a:srgbClr val="0051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2nd Deploy</a:t>
                      </a:r>
                    </a:p>
                  </a:txBody>
                  <a:tcPr marL="36576" marR="36576" marT="12700" marB="12700" anchor="ctr">
                    <a:lnTlToBr w="0"/>
                    <a:lnBlToTr w="0"/>
                    <a:solidFill>
                      <a:srgbClr val="0051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1st RR</a:t>
                      </a:r>
                    </a:p>
                  </a:txBody>
                  <a:tcPr marL="36576" marR="36576" marT="12700" marB="12700" anchor="ctr">
                    <a:lnTlToBr w="0"/>
                    <a:lnBlToTr w="0"/>
                    <a:solidFill>
                      <a:srgbClr val="0051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2nd RR</a:t>
                      </a:r>
                    </a:p>
                  </a:txBody>
                  <a:tcPr marL="36576" marR="36576" marT="12700" marB="12700" anchor="ctr">
                    <a:lnTlToBr w="0"/>
                    <a:lnBlToTr w="0"/>
                    <a:solidFill>
                      <a:srgbClr val="0051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Δ RR</a:t>
                      </a:r>
                    </a:p>
                  </a:txBody>
                  <a:tcPr marL="36576" marR="36576" marT="12700" marB="12700" anchor="ctr">
                    <a:lnTlToBr w="0"/>
                    <a:lnBlToTr w="0"/>
                    <a:solidFill>
                      <a:srgbClr val="0051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1st $/acct</a:t>
                      </a:r>
                    </a:p>
                  </a:txBody>
                  <a:tcPr marL="36576" marR="36576" marT="12700" marB="12700" anchor="ctr">
                    <a:lnTlToBr w="0"/>
                    <a:lnBlToTr w="0"/>
                    <a:solidFill>
                      <a:srgbClr val="0051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2nd $/acct</a:t>
                      </a:r>
                    </a:p>
                  </a:txBody>
                  <a:tcPr marL="36576" marR="36576" marT="12700" marB="12700" anchor="ctr">
                    <a:lnTlToBr w="0"/>
                    <a:lnBlToTr w="0"/>
                    <a:solidFill>
                      <a:srgbClr val="0051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Δ $</a:t>
                      </a:r>
                    </a:p>
                  </a:txBody>
                  <a:tcPr marL="36576" marR="36576" marT="12700" marB="12700" anchor="ctr">
                    <a:lnTlToBr w="0"/>
                    <a:lnBlToTr w="0"/>
                    <a:solidFill>
                      <a:srgbClr val="0051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1st Attr</a:t>
                      </a:r>
                    </a:p>
                  </a:txBody>
                  <a:tcPr marL="36576" marR="36576" marT="12700" marB="12700" anchor="ctr">
                    <a:lnTlToBr w="0"/>
                    <a:lnBlToTr w="0"/>
                    <a:solidFill>
                      <a:srgbClr val="0051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2nd Attr</a:t>
                      </a:r>
                    </a:p>
                  </a:txBody>
                  <a:tcPr marL="36576" marR="36576" marT="12700" marB="12700" anchor="ctr">
                    <a:lnTlToBr w="0"/>
                    <a:lnBlToTr w="0"/>
                    <a:solidFill>
                      <a:srgbClr val="0051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Δ Attr</a:t>
                      </a:r>
                    </a:p>
                  </a:txBody>
                  <a:tcPr marL="36576" marR="36576" marT="12700" marB="12700" anchor="ctr">
                    <a:lnTlToBr w="0"/>
                    <a:lnBlToTr w="0"/>
                    <a:solidFill>
                      <a:srgbClr val="0051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299716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/>
                        </a:rPr>
                        <a:t>CLO</a:t>
                      </a:r>
                    </a:p>
                  </a:txBody>
                  <a:tcPr marL="36576" marR="36576" marT="12700" marB="12700" anchor="ctr"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/>
                        </a:rPr>
                        <a:t>25,369</a:t>
                      </a:r>
                    </a:p>
                  </a:txBody>
                  <a:tcPr marL="36576" marR="36576" marT="12700" marB="12700" anchor="ctr"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/>
                        </a:rPr>
                        <a:t>27,977</a:t>
                      </a:r>
                    </a:p>
                  </a:txBody>
                  <a:tcPr marL="36576" marR="36576" marT="12700" marB="12700" anchor="ctr"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/>
                        </a:rPr>
                        <a:t>2.70%</a:t>
                      </a:r>
                    </a:p>
                  </a:txBody>
                  <a:tcPr marL="36576" marR="36576" marT="12700" marB="12700" anchor="ctr"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/>
                        </a:rPr>
                        <a:t>1.78%</a:t>
                      </a:r>
                    </a:p>
                  </a:txBody>
                  <a:tcPr marL="36576" marR="36576" marT="12700" marB="12700" anchor="ctr"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C8102E"/>
                          </a:solidFill>
                          <a:latin typeface="Calibri"/>
                        </a:rPr>
                        <a:t>−0.92 pp</a:t>
                      </a:r>
                    </a:p>
                  </a:txBody>
                  <a:tcPr marL="36576" marR="36576" marT="12700" marB="12700" anchor="ctr"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/>
                        </a:rPr>
                        <a:t>$9,898</a:t>
                      </a:r>
                    </a:p>
                  </a:txBody>
                  <a:tcPr marL="36576" marR="36576" marT="12700" marB="12700" anchor="ctr"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/>
                        </a:rPr>
                        <a:t>$6,060</a:t>
                      </a:r>
                    </a:p>
                  </a:txBody>
                  <a:tcPr marL="36576" marR="36576" marT="12700" marB="12700" anchor="ctr"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C8102E"/>
                          </a:solidFill>
                          <a:latin typeface="Calibri"/>
                        </a:rPr>
                        <a:t>−39%</a:t>
                      </a:r>
                    </a:p>
                  </a:txBody>
                  <a:tcPr marL="36576" marR="36576" marT="12700" marB="12700" anchor="ctr"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/>
                        </a:rPr>
                        <a:t>3.80%</a:t>
                      </a:r>
                    </a:p>
                  </a:txBody>
                  <a:tcPr marL="36576" marR="36576" marT="12700" marB="12700" anchor="ctr"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/>
                        </a:rPr>
                        <a:t>4.81%</a:t>
                      </a:r>
                    </a:p>
                  </a:txBody>
                  <a:tcPr marL="36576" marR="36576" marT="12700" marB="12700" anchor="ctr"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008A00"/>
                          </a:solidFill>
                          <a:latin typeface="Calibri"/>
                        </a:rPr>
                        <a:t>+1.01 pp</a:t>
                      </a:r>
                    </a:p>
                  </a:txBody>
                  <a:tcPr marL="36576" marR="36576" marT="12700" marB="12700" anchor="ctr"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105976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/>
                        </a:rPr>
                        <a:t>GCP</a:t>
                      </a:r>
                    </a:p>
                  </a:txBody>
                  <a:tcPr marL="36576" marR="36576" marT="12700" marB="12700" anchor="ctr">
                    <a:lnTlToBr w="0"/>
                    <a:lnBlToTr w="0"/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/>
                        </a:rPr>
                        <a:t>12,878</a:t>
                      </a:r>
                    </a:p>
                  </a:txBody>
                  <a:tcPr marL="36576" marR="36576" marT="12700" marB="12700" anchor="ctr">
                    <a:lnTlToBr w="0"/>
                    <a:lnBlToTr w="0"/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/>
                        </a:rPr>
                        <a:t>4,713</a:t>
                      </a:r>
                    </a:p>
                  </a:txBody>
                  <a:tcPr marL="36576" marR="36576" marT="12700" marB="12700" anchor="ctr">
                    <a:lnTlToBr w="0"/>
                    <a:lnBlToTr w="0"/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/>
                        </a:rPr>
                        <a:t>0.92%</a:t>
                      </a:r>
                    </a:p>
                  </a:txBody>
                  <a:tcPr marL="36576" marR="36576" marT="12700" marB="12700" anchor="ctr">
                    <a:lnTlToBr w="0"/>
                    <a:lnBlToTr w="0"/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/>
                        </a:rPr>
                        <a:t>1.63%</a:t>
                      </a:r>
                    </a:p>
                  </a:txBody>
                  <a:tcPr marL="36576" marR="36576" marT="12700" marB="12700" anchor="ctr">
                    <a:lnTlToBr w="0"/>
                    <a:lnBlToTr w="0"/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008A00"/>
                          </a:solidFill>
                          <a:latin typeface="Calibri"/>
                        </a:rPr>
                        <a:t>+0.71 pp</a:t>
                      </a:r>
                    </a:p>
                  </a:txBody>
                  <a:tcPr marL="36576" marR="36576" marT="12700" marB="12700" anchor="ctr">
                    <a:lnTlToBr w="0"/>
                    <a:lnBlToTr w="0"/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/>
                        </a:rPr>
                        <a:t>$12,434</a:t>
                      </a:r>
                    </a:p>
                  </a:txBody>
                  <a:tcPr marL="36576" marR="36576" marT="12700" marB="12700" anchor="ctr">
                    <a:lnTlToBr w="0"/>
                    <a:lnBlToTr w="0"/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/>
                        </a:rPr>
                        <a:t>$11,237</a:t>
                      </a:r>
                    </a:p>
                  </a:txBody>
                  <a:tcPr marL="36576" marR="36576" marT="12700" marB="12700" anchor="ctr">
                    <a:lnTlToBr w="0"/>
                    <a:lnBlToTr w="0"/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C8102E"/>
                          </a:solidFill>
                          <a:latin typeface="Calibri"/>
                        </a:rPr>
                        <a:t>−10%</a:t>
                      </a:r>
                    </a:p>
                  </a:txBody>
                  <a:tcPr marL="36576" marR="36576" marT="12700" marB="12700" anchor="ctr">
                    <a:lnTlToBr w="0"/>
                    <a:lnBlToTr w="0"/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/>
                        </a:rPr>
                        <a:t>9.24%</a:t>
                      </a:r>
                    </a:p>
                  </a:txBody>
                  <a:tcPr marL="36576" marR="36576" marT="12700" marB="12700" anchor="ctr">
                    <a:lnTlToBr w="0"/>
                    <a:lnBlToTr w="0"/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/>
                        </a:rPr>
                        <a:t>14.29%</a:t>
                      </a:r>
                    </a:p>
                  </a:txBody>
                  <a:tcPr marL="36576" marR="36576" marT="12700" marB="12700" anchor="ctr">
                    <a:lnTlToBr w="0"/>
                    <a:lnBlToTr w="0"/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008A00"/>
                          </a:solidFill>
                          <a:latin typeface="Calibri"/>
                        </a:rPr>
                        <a:t>+5.05 pp</a:t>
                      </a:r>
                    </a:p>
                  </a:txBody>
                  <a:tcPr marL="36576" marR="36576" marT="12700" marB="12700" anchor="ctr">
                    <a:lnTlToBr w="0"/>
                    <a:lnBlToTr w="0"/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931040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/>
                        </a:rPr>
                        <a:t>IAV</a:t>
                      </a:r>
                    </a:p>
                  </a:txBody>
                  <a:tcPr marL="36576" marR="36576" marT="12700" marB="12700" anchor="ctr"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/>
                        </a:rPr>
                        <a:t>196,372</a:t>
                      </a:r>
                    </a:p>
                  </a:txBody>
                  <a:tcPr marL="36576" marR="36576" marT="12700" marB="12700" anchor="ctr"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/>
                        </a:rPr>
                        <a:t>13,174</a:t>
                      </a:r>
                    </a:p>
                  </a:txBody>
                  <a:tcPr marL="36576" marR="36576" marT="12700" marB="12700" anchor="ctr"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/>
                        </a:rPr>
                        <a:t>0.56%</a:t>
                      </a:r>
                    </a:p>
                  </a:txBody>
                  <a:tcPr marL="36576" marR="36576" marT="12700" marB="12700" anchor="ctr"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/>
                        </a:rPr>
                        <a:t>1.62%</a:t>
                      </a:r>
                    </a:p>
                  </a:txBody>
                  <a:tcPr marL="36576" marR="36576" marT="12700" marB="12700" anchor="ctr"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008A00"/>
                          </a:solidFill>
                          <a:latin typeface="Calibri"/>
                        </a:rPr>
                        <a:t>+1.06 pp</a:t>
                      </a:r>
                    </a:p>
                  </a:txBody>
                  <a:tcPr marL="36576" marR="36576" marT="12700" marB="12700" anchor="ctr"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/>
                        </a:rPr>
                        <a:t>$16,918</a:t>
                      </a:r>
                    </a:p>
                  </a:txBody>
                  <a:tcPr marL="36576" marR="36576" marT="12700" marB="12700" anchor="ctr"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/>
                        </a:rPr>
                        <a:t>$18,228</a:t>
                      </a:r>
                    </a:p>
                  </a:txBody>
                  <a:tcPr marL="36576" marR="36576" marT="12700" marB="12700" anchor="ctr"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008A00"/>
                          </a:solidFill>
                          <a:latin typeface="Calibri"/>
                        </a:rPr>
                        <a:t>+8%</a:t>
                      </a:r>
                    </a:p>
                  </a:txBody>
                  <a:tcPr marL="36576" marR="36576" marT="12700" marB="12700" anchor="ctr"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/>
                        </a:rPr>
                        <a:t>10.55%</a:t>
                      </a:r>
                    </a:p>
                  </a:txBody>
                  <a:tcPr marL="36576" marR="36576" marT="12700" marB="12700" anchor="ctr"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/>
                        </a:rPr>
                        <a:t>7.01%</a:t>
                      </a:r>
                    </a:p>
                  </a:txBody>
                  <a:tcPr marL="36576" marR="36576" marT="12700" marB="12700" anchor="ctr"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C8102E"/>
                          </a:solidFill>
                          <a:latin typeface="Calibri"/>
                        </a:rPr>
                        <a:t>−3.54 pp</a:t>
                      </a:r>
                    </a:p>
                  </a:txBody>
                  <a:tcPr marL="36576" marR="36576" marT="12700" marB="12700" anchor="ctr"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789676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/>
                        </a:rPr>
                        <a:t>ION</a:t>
                      </a:r>
                    </a:p>
                  </a:txBody>
                  <a:tcPr marL="36576" marR="36576" marT="12700" marB="12700" anchor="ctr">
                    <a:lnTlToBr w="0"/>
                    <a:lnBlToTr w="0"/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/>
                        </a:rPr>
                        <a:t>34,556</a:t>
                      </a:r>
                    </a:p>
                  </a:txBody>
                  <a:tcPr marL="36576" marR="36576" marT="12700" marB="12700" anchor="ctr">
                    <a:lnTlToBr w="0"/>
                    <a:lnBlToTr w="0"/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/>
                        </a:rPr>
                        <a:t>49,398</a:t>
                      </a:r>
                    </a:p>
                  </a:txBody>
                  <a:tcPr marL="36576" marR="36576" marT="12700" marB="12700" anchor="ctr">
                    <a:lnTlToBr w="0"/>
                    <a:lnBlToTr w="0"/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/>
                        </a:rPr>
                        <a:t>1.75%</a:t>
                      </a:r>
                    </a:p>
                  </a:txBody>
                  <a:tcPr marL="36576" marR="36576" marT="12700" marB="12700" anchor="ctr">
                    <a:lnTlToBr w="0"/>
                    <a:lnBlToTr w="0"/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/>
                        </a:rPr>
                        <a:t>1.53%</a:t>
                      </a:r>
                    </a:p>
                  </a:txBody>
                  <a:tcPr marL="36576" marR="36576" marT="12700" marB="12700" anchor="ctr">
                    <a:lnTlToBr w="0"/>
                    <a:lnBlToTr w="0"/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C8102E"/>
                          </a:solidFill>
                          <a:latin typeface="Calibri"/>
                        </a:rPr>
                        <a:t>−0.22 pp</a:t>
                      </a:r>
                    </a:p>
                  </a:txBody>
                  <a:tcPr marL="36576" marR="36576" marT="12700" marB="12700" anchor="ctr">
                    <a:lnTlToBr w="0"/>
                    <a:lnBlToTr w="0"/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/>
                        </a:rPr>
                        <a:t>$7,215</a:t>
                      </a:r>
                    </a:p>
                  </a:txBody>
                  <a:tcPr marL="36576" marR="36576" marT="12700" marB="12700" anchor="ctr">
                    <a:lnTlToBr w="0"/>
                    <a:lnBlToTr w="0"/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/>
                        </a:rPr>
                        <a:t>$8,002</a:t>
                      </a:r>
                    </a:p>
                  </a:txBody>
                  <a:tcPr marL="36576" marR="36576" marT="12700" marB="12700" anchor="ctr">
                    <a:lnTlToBr w="0"/>
                    <a:lnBlToTr w="0"/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008A00"/>
                          </a:solidFill>
                          <a:latin typeface="Calibri"/>
                        </a:rPr>
                        <a:t>+11%</a:t>
                      </a:r>
                    </a:p>
                  </a:txBody>
                  <a:tcPr marL="36576" marR="36576" marT="12700" marB="12700" anchor="ctr">
                    <a:lnTlToBr w="0"/>
                    <a:lnBlToTr w="0"/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/>
                        </a:rPr>
                        <a:t>3.97%</a:t>
                      </a:r>
                    </a:p>
                  </a:txBody>
                  <a:tcPr marL="36576" marR="36576" marT="12700" marB="12700" anchor="ctr">
                    <a:lnTlToBr w="0"/>
                    <a:lnBlToTr w="0"/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/>
                        </a:rPr>
                        <a:t>2.52%</a:t>
                      </a:r>
                    </a:p>
                  </a:txBody>
                  <a:tcPr marL="36576" marR="36576" marT="12700" marB="12700" anchor="ctr">
                    <a:lnTlToBr w="0"/>
                    <a:lnBlToTr w="0"/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C8102E"/>
                          </a:solidFill>
                          <a:latin typeface="Calibri"/>
                        </a:rPr>
                        <a:t>−1.45 pp</a:t>
                      </a:r>
                    </a:p>
                  </a:txBody>
                  <a:tcPr marL="36576" marR="36576" marT="12700" marB="12700" anchor="ctr">
                    <a:lnTlToBr w="0"/>
                    <a:lnBlToTr w="0"/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35823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/>
                        </a:rPr>
                        <a:t>IOP</a:t>
                      </a:r>
                    </a:p>
                  </a:txBody>
                  <a:tcPr marL="36576" marR="36576" marT="12700" marB="12700" anchor="ctr"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/>
                        </a:rPr>
                        <a:t>38,159</a:t>
                      </a:r>
                    </a:p>
                  </a:txBody>
                  <a:tcPr marL="36576" marR="36576" marT="12700" marB="12700" anchor="ctr"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/>
                        </a:rPr>
                        <a:t>112,350</a:t>
                      </a:r>
                    </a:p>
                  </a:txBody>
                  <a:tcPr marL="36576" marR="36576" marT="12700" marB="12700" anchor="ctr"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/>
                        </a:rPr>
                        <a:t>1.98%</a:t>
                      </a:r>
                    </a:p>
                  </a:txBody>
                  <a:tcPr marL="36576" marR="36576" marT="12700" marB="12700" anchor="ctr"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/>
                        </a:rPr>
                        <a:t>0.59%</a:t>
                      </a:r>
                    </a:p>
                  </a:txBody>
                  <a:tcPr marL="36576" marR="36576" marT="12700" marB="12700" anchor="ctr"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C8102E"/>
                          </a:solidFill>
                          <a:latin typeface="Calibri"/>
                        </a:rPr>
                        <a:t>−1.39 pp</a:t>
                      </a:r>
                    </a:p>
                  </a:txBody>
                  <a:tcPr marL="36576" marR="36576" marT="12700" marB="12700" anchor="ctr"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/>
                        </a:rPr>
                        <a:t>$10,528</a:t>
                      </a:r>
                    </a:p>
                  </a:txBody>
                  <a:tcPr marL="36576" marR="36576" marT="12700" marB="12700" anchor="ctr"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/>
                        </a:rPr>
                        <a:t>$10,224</a:t>
                      </a:r>
                    </a:p>
                  </a:txBody>
                  <a:tcPr marL="36576" marR="36576" marT="12700" marB="12700" anchor="ctr"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C8102E"/>
                          </a:solidFill>
                          <a:latin typeface="Calibri"/>
                        </a:rPr>
                        <a:t>−3%</a:t>
                      </a:r>
                    </a:p>
                  </a:txBody>
                  <a:tcPr marL="36576" marR="36576" marT="12700" marB="12700" anchor="ctr"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/>
                        </a:rPr>
                        <a:t>1.99%</a:t>
                      </a:r>
                    </a:p>
                  </a:txBody>
                  <a:tcPr marL="36576" marR="36576" marT="12700" marB="12700" anchor="ctr"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/>
                        </a:rPr>
                        <a:t>8.75%</a:t>
                      </a:r>
                    </a:p>
                  </a:txBody>
                  <a:tcPr marL="36576" marR="36576" marT="12700" marB="12700" anchor="ctr"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008A00"/>
                          </a:solidFill>
                          <a:latin typeface="Calibri"/>
                        </a:rPr>
                        <a:t>+6.76 pp</a:t>
                      </a:r>
                    </a:p>
                  </a:txBody>
                  <a:tcPr marL="36576" marR="36576" marT="12700" marB="12700" anchor="ctr"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985739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/>
                        </a:rPr>
                        <a:t>MC1</a:t>
                      </a:r>
                    </a:p>
                  </a:txBody>
                  <a:tcPr marL="36576" marR="36576" marT="12700" marB="12700" anchor="ctr">
                    <a:lnTlToBr w="0"/>
                    <a:lnBlToTr w="0"/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/>
                        </a:rPr>
                        <a:t>25,110</a:t>
                      </a:r>
                    </a:p>
                  </a:txBody>
                  <a:tcPr marL="36576" marR="36576" marT="12700" marB="12700" anchor="ctr">
                    <a:lnTlToBr w="0"/>
                    <a:lnBlToTr w="0"/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/>
                        </a:rPr>
                        <a:t>23,165</a:t>
                      </a:r>
                    </a:p>
                  </a:txBody>
                  <a:tcPr marL="36576" marR="36576" marT="12700" marB="12700" anchor="ctr">
                    <a:lnTlToBr w="0"/>
                    <a:lnBlToTr w="0"/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/>
                        </a:rPr>
                        <a:t>0.90%</a:t>
                      </a:r>
                    </a:p>
                  </a:txBody>
                  <a:tcPr marL="36576" marR="36576" marT="12700" marB="12700" anchor="ctr">
                    <a:lnTlToBr w="0"/>
                    <a:lnBlToTr w="0"/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/>
                        </a:rPr>
                        <a:t>0.96%</a:t>
                      </a:r>
                    </a:p>
                  </a:txBody>
                  <a:tcPr marL="36576" marR="36576" marT="12700" marB="12700" anchor="ctr">
                    <a:lnTlToBr w="0"/>
                    <a:lnBlToTr w="0"/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008A00"/>
                          </a:solidFill>
                          <a:latin typeface="Calibri"/>
                        </a:rPr>
                        <a:t>+0.06 pp</a:t>
                      </a:r>
                    </a:p>
                  </a:txBody>
                  <a:tcPr marL="36576" marR="36576" marT="12700" marB="12700" anchor="ctr">
                    <a:lnTlToBr w="0"/>
                    <a:lnBlToTr w="0"/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/>
                        </a:rPr>
                        <a:t>$6,224</a:t>
                      </a:r>
                    </a:p>
                  </a:txBody>
                  <a:tcPr marL="36576" marR="36576" marT="12700" marB="12700" anchor="ctr">
                    <a:lnTlToBr w="0"/>
                    <a:lnBlToTr w="0"/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/>
                        </a:rPr>
                        <a:t>$5,341</a:t>
                      </a:r>
                    </a:p>
                  </a:txBody>
                  <a:tcPr marL="36576" marR="36576" marT="12700" marB="12700" anchor="ctr">
                    <a:lnTlToBr w="0"/>
                    <a:lnBlToTr w="0"/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C8102E"/>
                          </a:solidFill>
                          <a:latin typeface="Calibri"/>
                        </a:rPr>
                        <a:t>−14%</a:t>
                      </a:r>
                    </a:p>
                  </a:txBody>
                  <a:tcPr marL="36576" marR="36576" marT="12700" marB="12700" anchor="ctr">
                    <a:lnTlToBr w="0"/>
                    <a:lnBlToTr w="0"/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/>
                        </a:rPr>
                        <a:t>2.20%</a:t>
                      </a:r>
                    </a:p>
                  </a:txBody>
                  <a:tcPr marL="36576" marR="36576" marT="12700" marB="12700" anchor="ctr">
                    <a:lnTlToBr w="0"/>
                    <a:lnBlToTr w="0"/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/>
                        </a:rPr>
                        <a:t>3.60%</a:t>
                      </a:r>
                    </a:p>
                  </a:txBody>
                  <a:tcPr marL="36576" marR="36576" marT="12700" marB="12700" anchor="ctr">
                    <a:lnTlToBr w="0"/>
                    <a:lnBlToTr w="0"/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008A00"/>
                          </a:solidFill>
                          <a:latin typeface="Calibri"/>
                        </a:rPr>
                        <a:t>+1.40 pp</a:t>
                      </a:r>
                    </a:p>
                  </a:txBody>
                  <a:tcPr marL="36576" marR="36576" marT="12700" marB="12700" anchor="ctr">
                    <a:lnTlToBr w="0"/>
                    <a:lnBlToTr w="0"/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71792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7357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 [1776211156072]">
  <a:themeElements>
    <a:clrScheme name="Office">
      <a:dk1>
        <a:srgbClr val="003168"/>
      </a:dk1>
      <a:lt1>
        <a:srgbClr val="E7EEF1"/>
      </a:lt1>
      <a:dk2>
        <a:srgbClr val="212121"/>
      </a:dk2>
      <a:lt2>
        <a:srgbClr val="FFFFFF"/>
      </a:lt2>
      <a:accent1>
        <a:srgbClr val="0051A5"/>
      </a:accent1>
      <a:accent2>
        <a:srgbClr val="FFC72C"/>
      </a:accent2>
      <a:accent3>
        <a:srgbClr val="FCA311"/>
      </a:accent3>
      <a:accent4>
        <a:srgbClr val="9EA2A2"/>
      </a:accent4>
      <a:accent5>
        <a:srgbClr val="003168"/>
      </a:accent5>
      <a:accent6>
        <a:srgbClr val="E7EEF1"/>
      </a:accent6>
      <a:hlink>
        <a:srgbClr val="0563C1"/>
      </a:hlink>
      <a:folHlink>
        <a:srgbClr val="954F72"/>
      </a:folHlink>
    </a:clrScheme>
    <a:fontScheme name="Office">
      <a:majorFont>
        <a:latin typeface="Calibri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12E2173-F1FE-4E9B-80B0-9DC59F20887C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3c06c27a-2789-4124-adaf-ffd7f422870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592</Words>
  <Application>Microsoft Office PowerPoint</Application>
  <PresentationFormat>Widescreen</PresentationFormat>
  <Paragraphs>138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Office Theme [1776211156072]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 AVS</dc:creator>
  <cp:lastModifiedBy>Andre AVS</cp:lastModifiedBy>
  <cp:revision>2</cp:revision>
  <dcterms:created xsi:type="dcterms:W3CDTF">2026-04-14T23:59:15Z</dcterms:created>
  <dcterms:modified xsi:type="dcterms:W3CDTF">2026-04-15T00:49:26Z</dcterms:modified>
</cp:coreProperties>
</file>