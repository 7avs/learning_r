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draft, interim, descriptive-only work for the working group to pressure-test. The question is whether adding the Sales Model placement lifts completed-app rate vs Champion. Stress: no control, two waves at different ages, nothing called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Champion is existing placements only. The Sales Model challenger adds one new placement on top of the same three. Two deployment waves by treatment-start date, at different ages. We read it as a vintage curve — completed-app rate by days since treatment — because the waves are at different maturities.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Pooled is effectively a tie — 0.31% vs 0.32%, label both with denominators. By wave it splits: Wave 1 Sales Model is ahead (0.53 vs 0.48, +10% relative), Wave 2 Sales Model is behind but Wave 2 is young and right-censored. The vintage curve is the right lens because the waves are at different ages — compare at equal vintage day, not latest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things the room will press on. Targeting vs design is the big one — both arms appear across all 10 deciles but design intended Champion = top-5 only; pending Parmeshar whether that's intended or a deployment variance, and it matters because pooled rate is decile-mix dependent. Conversion dies after decile 2, so the fair comparison is decile-by-decile matched, not pooled. Open: why two challenger codes. Wave 2 still censored — compare at equal vintage day. And no control group, so directional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857250"/>
            <a:ext cx="92539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507" kern="0" dirty="0">
                <a:solidFill>
                  <a:srgbClr val="C8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RBC CARDS POD · ANALYTICS WORKING GROUP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9495949" y="800100"/>
            <a:ext cx="7744301" cy="508000"/>
          </a:xfrm>
          <a:prstGeom prst="roundRect">
            <a:avLst>
              <a:gd name="adj" fmla="val 5625"/>
            </a:avLst>
          </a:prstGeom>
          <a:ln w="12700">
            <a:solidFill>
              <a:srgbClr val="C8A24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47770" y="917575"/>
            <a:ext cx="760833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spc="180" kern="0" dirty="0">
                <a:solidFill>
                  <a:srgbClr val="C8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INTERIM · FOR WORKING-GROUP DISCUSSION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721519" y="1422400"/>
            <a:ext cx="851873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72" kern="0" dirty="0">
                <a:solidFill>
                  <a:srgbClr val="9FB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June 16, 2026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47750" y="3248501"/>
            <a:ext cx="15506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29" kern="0" dirty="0">
                <a:solidFill>
                  <a:srgbClr val="8FB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PCQ · CREDIT-CARD ACQUISITION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47750" y="3781901"/>
            <a:ext cx="14519910" cy="1670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4"/>
              </a:lnSpc>
              <a:buNone/>
            </a:pPr>
            <a:r>
              <a:rPr lang="en-US" sz="6300" b="1" spc="-63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PCQ Sales Model — Interim Read </a:t>
            </a:r>
            <a:pPr algn="l" indent="0" marL="0">
              <a:lnSpc>
                <a:spcPct val="102004"/>
              </a:lnSpc>
              <a:buNone/>
            </a:pPr>
            <a:r>
              <a:rPr lang="en-US" sz="6300" i="1" spc="-63" kern="0" dirty="0">
                <a:solidFill>
                  <a:srgbClr val="C2D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(Draft)</a:t>
            </a:r>
            <a:endParaRPr lang="en-US" sz="6300" dirty="0"/>
          </a:p>
        </p:txBody>
      </p:sp>
      <p:sp>
        <p:nvSpPr>
          <p:cNvPr id="9" name="Text 6"/>
          <p:cNvSpPr/>
          <p:nvPr/>
        </p:nvSpPr>
        <p:spPr>
          <a:xfrm>
            <a:off x="1047750" y="5699919"/>
            <a:ext cx="8239068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i="1" dirty="0">
                <a:solidFill>
                  <a:srgbClr val="C2D2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new Sales Model placement lift completed-application rate vs Champion?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1047750" y="7082949"/>
            <a:ext cx="3741896" cy="577850"/>
          </a:xfrm>
          <a:prstGeom prst="roundRect">
            <a:avLst>
              <a:gd name="adj" fmla="val 50000"/>
            </a:avLst>
          </a:prstGeom>
          <a:ln w="12700">
            <a:solidFill>
              <a:srgbClr val="9FB6CD">
                <a:alpha val="4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08100" y="7228999"/>
            <a:ext cx="333345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2D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only — no control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4961096" y="7082949"/>
            <a:ext cx="3406616" cy="577850"/>
          </a:xfrm>
          <a:prstGeom prst="roundRect">
            <a:avLst>
              <a:gd name="adj" fmla="val 50000"/>
            </a:avLst>
          </a:prstGeom>
          <a:ln w="12700">
            <a:solidFill>
              <a:srgbClr val="9FB6CD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21446" y="7228999"/>
            <a:ext cx="2988115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2D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waves, different maturity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8539163" y="7082949"/>
            <a:ext cx="3398202" cy="577850"/>
          </a:xfrm>
          <a:prstGeom prst="roundRect">
            <a:avLst>
              <a:gd name="adj" fmla="val 50000"/>
            </a:avLst>
          </a:prstGeom>
          <a:ln w="12700">
            <a:solidFill>
              <a:srgbClr val="9FB6CD">
                <a:alpha val="4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99512" y="7228999"/>
            <a:ext cx="2979449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2D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— nothing called yet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047750" y="9213850"/>
            <a:ext cx="322218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9FB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Interim read · June 2026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310018" y="9213850"/>
            <a:ext cx="7623254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FB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· DIRECTIONAL ONLY — NOT CAUSAL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85800"/>
            <a:ext cx="477721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PCQ SALES MODEL · INTERIM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150850" y="685800"/>
            <a:ext cx="449834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C8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interim </a:t>
            </a:r>
            <a:pPr algn="l" indent="0" marL="0">
              <a:buNone/>
            </a:pPr>
            <a:r>
              <a:rPr lang="en-US" sz="1800" spc="72" kern="0" dirty="0">
                <a:solidFill>
                  <a:srgbClr val="9AA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as of June 16,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130300"/>
            <a:ext cx="17811750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tested </a:t>
            </a:r>
            <a:pPr algn="l" indent="0" marL="0">
              <a:lnSpc>
                <a:spcPct val="105000"/>
              </a:lnSpc>
              <a:buNone/>
            </a:pPr>
            <a:r>
              <a:rPr lang="en-US" sz="4200" i="1" dirty="0">
                <a:solidFill>
                  <a:srgbClr val="2E5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two arms, two waves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047750" y="1957070"/>
            <a:ext cx="16192500" cy="9525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325370"/>
            <a:ext cx="7791450" cy="38100"/>
          </a:xfrm>
          <a:prstGeom prst="rect">
            <a:avLst/>
          </a:prstGeom>
          <a:solidFill>
            <a:srgbClr val="2E5E8C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573020"/>
            <a:ext cx="1736122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Champion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778443" y="2661920"/>
            <a:ext cx="16006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2E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NG3_CHMP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47750" y="3042920"/>
            <a:ext cx="85705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placements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047750" y="3781108"/>
            <a:ext cx="123825" cy="123825"/>
          </a:xfrm>
          <a:prstGeom prst="rect">
            <a:avLst/>
          </a:prstGeom>
          <a:solidFill>
            <a:srgbClr val="2E5E8C"/>
          </a:solidFill>
          <a:ln/>
        </p:spPr>
      </p:sp>
      <p:sp>
        <p:nvSpPr>
          <p:cNvPr id="11" name="Text 9"/>
          <p:cNvSpPr/>
          <p:nvPr/>
        </p:nvSpPr>
        <p:spPr>
          <a:xfrm>
            <a:off x="1343025" y="3677920"/>
            <a:ext cx="152019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27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1047750" y="4314508"/>
            <a:ext cx="123825" cy="123825"/>
          </a:xfrm>
          <a:prstGeom prst="rect">
            <a:avLst/>
          </a:prstGeom>
          <a:solidFill>
            <a:srgbClr val="2E5E8C"/>
          </a:solidFill>
          <a:ln/>
        </p:spPr>
      </p:sp>
      <p:sp>
        <p:nvSpPr>
          <p:cNvPr id="13" name="Text 11"/>
          <p:cNvSpPr/>
          <p:nvPr/>
        </p:nvSpPr>
        <p:spPr>
          <a:xfrm>
            <a:off x="1343025" y="4211320"/>
            <a:ext cx="2488089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27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Summary</a:t>
            </a:r>
            <a:endParaRPr lang="en-US" sz="2325" dirty="0"/>
          </a:p>
        </p:txBody>
      </p:sp>
      <p:sp>
        <p:nvSpPr>
          <p:cNvPr id="14" name="Shape 12"/>
          <p:cNvSpPr/>
          <p:nvPr/>
        </p:nvSpPr>
        <p:spPr>
          <a:xfrm>
            <a:off x="1047750" y="4847908"/>
            <a:ext cx="123825" cy="123825"/>
          </a:xfrm>
          <a:prstGeom prst="rect">
            <a:avLst/>
          </a:prstGeom>
          <a:solidFill>
            <a:srgbClr val="2E5E8C"/>
          </a:solidFill>
          <a:ln/>
        </p:spPr>
      </p:sp>
      <p:sp>
        <p:nvSpPr>
          <p:cNvPr id="15" name="Text 13"/>
          <p:cNvSpPr/>
          <p:nvPr/>
        </p:nvSpPr>
        <p:spPr>
          <a:xfrm>
            <a:off x="1343025" y="4744720"/>
            <a:ext cx="149828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27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 Hub</a:t>
            </a:r>
            <a:endParaRPr lang="en-US" sz="2325" dirty="0"/>
          </a:p>
        </p:txBody>
      </p:sp>
      <p:sp>
        <p:nvSpPr>
          <p:cNvPr id="16" name="Shape 14"/>
          <p:cNvSpPr/>
          <p:nvPr/>
        </p:nvSpPr>
        <p:spPr>
          <a:xfrm>
            <a:off x="9448800" y="2325370"/>
            <a:ext cx="7791450" cy="381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9448800" y="2573020"/>
            <a:ext cx="389815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Model Challenger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3144977" y="2661920"/>
            <a:ext cx="33400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163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NG3_CHLN / NG3_CHLD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448800" y="3042920"/>
            <a:ext cx="85705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placements + the new Sales Model placement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9448800" y="3781108"/>
            <a:ext cx="123825" cy="123825"/>
          </a:xfrm>
          <a:prstGeom prst="rect">
            <a:avLst/>
          </a:prstGeom>
          <a:solidFill>
            <a:srgbClr val="9DB0CF"/>
          </a:solidFill>
          <a:ln/>
        </p:spPr>
      </p:sp>
      <p:sp>
        <p:nvSpPr>
          <p:cNvPr id="21" name="Text 19"/>
          <p:cNvSpPr/>
          <p:nvPr/>
        </p:nvSpPr>
        <p:spPr>
          <a:xfrm>
            <a:off x="9744075" y="3677920"/>
            <a:ext cx="152019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2325" dirty="0"/>
          </a:p>
        </p:txBody>
      </p:sp>
      <p:sp>
        <p:nvSpPr>
          <p:cNvPr id="22" name="Shape 20"/>
          <p:cNvSpPr/>
          <p:nvPr/>
        </p:nvSpPr>
        <p:spPr>
          <a:xfrm>
            <a:off x="9448800" y="4314508"/>
            <a:ext cx="123825" cy="123825"/>
          </a:xfrm>
          <a:prstGeom prst="rect">
            <a:avLst/>
          </a:prstGeom>
          <a:solidFill>
            <a:srgbClr val="9DB0CF"/>
          </a:solidFill>
          <a:ln/>
        </p:spPr>
      </p:sp>
      <p:sp>
        <p:nvSpPr>
          <p:cNvPr id="23" name="Text 21"/>
          <p:cNvSpPr/>
          <p:nvPr/>
        </p:nvSpPr>
        <p:spPr>
          <a:xfrm>
            <a:off x="9744075" y="4211320"/>
            <a:ext cx="2488089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Summary</a:t>
            </a:r>
            <a:endParaRPr lang="en-US" sz="2325" dirty="0"/>
          </a:p>
        </p:txBody>
      </p:sp>
      <p:sp>
        <p:nvSpPr>
          <p:cNvPr id="24" name="Shape 22"/>
          <p:cNvSpPr/>
          <p:nvPr/>
        </p:nvSpPr>
        <p:spPr>
          <a:xfrm>
            <a:off x="9448800" y="4847908"/>
            <a:ext cx="123825" cy="123825"/>
          </a:xfrm>
          <a:prstGeom prst="rect">
            <a:avLst/>
          </a:prstGeom>
          <a:solidFill>
            <a:srgbClr val="9DB0CF"/>
          </a:solidFill>
          <a:ln/>
        </p:spPr>
      </p:sp>
      <p:sp>
        <p:nvSpPr>
          <p:cNvPr id="25" name="Text 23"/>
          <p:cNvSpPr/>
          <p:nvPr/>
        </p:nvSpPr>
        <p:spPr>
          <a:xfrm>
            <a:off x="9744075" y="4744720"/>
            <a:ext cx="149828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 Hub</a:t>
            </a:r>
            <a:endParaRPr lang="en-US" sz="2325" dirty="0"/>
          </a:p>
        </p:txBody>
      </p:sp>
      <p:sp>
        <p:nvSpPr>
          <p:cNvPr id="26" name="Shape 24"/>
          <p:cNvSpPr/>
          <p:nvPr/>
        </p:nvSpPr>
        <p:spPr>
          <a:xfrm>
            <a:off x="9448800" y="5397182"/>
            <a:ext cx="123825" cy="123825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9744075" y="5293995"/>
            <a:ext cx="316053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Model placement</a:t>
            </a:r>
            <a:endParaRPr lang="en-US" sz="2325" dirty="0"/>
          </a:p>
        </p:txBody>
      </p:sp>
      <p:sp>
        <p:nvSpPr>
          <p:cNvPr id="28" name="Shape 26"/>
          <p:cNvSpPr/>
          <p:nvPr/>
        </p:nvSpPr>
        <p:spPr>
          <a:xfrm>
            <a:off x="12984004" y="5271770"/>
            <a:ext cx="850583" cy="374650"/>
          </a:xfrm>
          <a:prstGeom prst="roundRect">
            <a:avLst>
              <a:gd name="adj" fmla="val 7627"/>
            </a:avLst>
          </a:prstGeom>
          <a:ln w="12700">
            <a:solidFill>
              <a:srgbClr val="C8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101479" y="5322570"/>
            <a:ext cx="691833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C8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47750" y="7547610"/>
            <a:ext cx="16192500" cy="1905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1047750" y="7814310"/>
            <a:ext cx="857059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WAVES · BY TREATMENT-START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47750" y="8201660"/>
            <a:ext cx="857059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27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7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Jun 1 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~14 days mature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47750" y="8656955"/>
            <a:ext cx="857059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27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2 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7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Jun 9 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~8 days, still maturing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448800" y="7814310"/>
            <a:ext cx="857059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448800" y="8201660"/>
            <a:ext cx="802519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7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Completed-application rate by days since treatment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(vintage curve)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047750" y="9302750"/>
            <a:ext cx="16192500" cy="9525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7" name="Text 35"/>
          <p:cNvSpPr/>
          <p:nvPr/>
        </p:nvSpPr>
        <p:spPr>
          <a:xfrm>
            <a:off x="1047750" y="9480550"/>
            <a:ext cx="662597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only — no control group; directional, not causal.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781915" y="9480550"/>
            <a:ext cx="4904168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9AA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PCQ SALES MODEL · INTERIM · 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477721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PCQ SALES MODEL · INTERIM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84200" y="571500"/>
            <a:ext cx="449834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C8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interim </a:t>
            </a:r>
            <a:pPr algn="l" indent="0" marL="0">
              <a:buNone/>
            </a:pPr>
            <a:r>
              <a:rPr lang="en-US" sz="1800" spc="72" kern="0" dirty="0">
                <a:solidFill>
                  <a:srgbClr val="9AA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as of June 16,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996950"/>
            <a:ext cx="18105120" cy="57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see so far </a:t>
            </a:r>
            <a:pPr algn="l" indent="0" marL="0">
              <a:lnSpc>
                <a:spcPct val="105000"/>
              </a:lnSpc>
              <a:buNone/>
            </a:pPr>
            <a:r>
              <a:rPr lang="en-US" sz="4050" i="1" dirty="0">
                <a:solidFill>
                  <a:srgbClr val="2E5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wave-dependent, not yet stable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14400" y="1746568"/>
            <a:ext cx="16459200" cy="9525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18043"/>
            <a:ext cx="285750" cy="381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2006917"/>
            <a:ext cx="1334294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Model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39244" y="2118043"/>
            <a:ext cx="285750" cy="38100"/>
          </a:xfrm>
          <a:prstGeom prst="rect">
            <a:avLst/>
          </a:prstGeom>
          <a:solidFill>
            <a:srgbClr val="2E5E8C"/>
          </a:solidFill>
          <a:ln/>
        </p:spPr>
      </p:sp>
      <p:sp>
        <p:nvSpPr>
          <p:cNvPr id="9" name="Text 7"/>
          <p:cNvSpPr/>
          <p:nvPr/>
        </p:nvSpPr>
        <p:spPr>
          <a:xfrm>
            <a:off x="3220244" y="2006917"/>
            <a:ext cx="1118394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48188" y="2032318"/>
            <a:ext cx="9525" cy="209550"/>
          </a:xfrm>
          <a:prstGeom prst="rect">
            <a:avLst/>
          </a:prstGeom>
          <a:solidFill>
            <a:srgbClr val="DCE3EC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3463" y="2108518"/>
            <a:ext cx="323850" cy="571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62563" y="2006917"/>
            <a:ext cx="1573689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(~14d)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5801" y="2108518"/>
            <a:ext cx="323850" cy="571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64901" y="2006917"/>
            <a:ext cx="2514124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2 (~8d, censored)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914400" y="2368867"/>
            <a:ext cx="9566910" cy="5646102"/>
          </a:xfrm>
          <a:prstGeom prst="roundRect">
            <a:avLst>
              <a:gd name="adj" fmla="val 506"/>
            </a:avLst>
          </a:prstGeom>
          <a:ln w="6350">
            <a:solidFill>
              <a:srgbClr val="E6EBF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2508568"/>
            <a:ext cx="9211310" cy="5366703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0995660" y="2000568"/>
            <a:ext cx="6377940" cy="1905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8" name="Text 13"/>
          <p:cNvSpPr/>
          <p:nvPr/>
        </p:nvSpPr>
        <p:spPr>
          <a:xfrm>
            <a:off x="10995660" y="2152968"/>
            <a:ext cx="27466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TO DATE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5807849" y="2152968"/>
            <a:ext cx="17223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dirty="0">
                <a:solidFill>
                  <a:srgbClr val="2E5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effectively a tie</a:t>
            </a:r>
            <a:endParaRPr lang="en-US" sz="1875" dirty="0"/>
          </a:p>
        </p:txBody>
      </p:sp>
      <p:sp>
        <p:nvSpPr>
          <p:cNvPr id="20" name="Shape 15"/>
          <p:cNvSpPr/>
          <p:nvPr/>
        </p:nvSpPr>
        <p:spPr>
          <a:xfrm>
            <a:off x="10995660" y="2822893"/>
            <a:ext cx="123825" cy="123825"/>
          </a:xfrm>
          <a:prstGeom prst="rect">
            <a:avLst/>
          </a:prstGeom>
          <a:solidFill>
            <a:srgbClr val="2E5E8C"/>
          </a:solidFill>
          <a:ln/>
        </p:spPr>
      </p:sp>
      <p:sp>
        <p:nvSpPr>
          <p:cNvPr id="21" name="Text 16"/>
          <p:cNvSpPr/>
          <p:nvPr/>
        </p:nvSpPr>
        <p:spPr>
          <a:xfrm>
            <a:off x="11233785" y="2735580"/>
            <a:ext cx="1291431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7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16077088" y="2559368"/>
            <a:ext cx="142616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2E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0.31%</a:t>
            </a:r>
            <a:endParaRPr lang="en-US" sz="3600" dirty="0"/>
          </a:p>
        </p:txBody>
      </p:sp>
      <p:sp>
        <p:nvSpPr>
          <p:cNvPr id="23" name="Text 18"/>
          <p:cNvSpPr/>
          <p:nvPr/>
        </p:nvSpPr>
        <p:spPr>
          <a:xfrm>
            <a:off x="10357866" y="3059430"/>
            <a:ext cx="7015734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9AA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433 / 139,394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10995660" y="3465830"/>
            <a:ext cx="6377940" cy="9525"/>
          </a:xfrm>
          <a:prstGeom prst="rect">
            <a:avLst/>
          </a:prstGeom>
          <a:solidFill>
            <a:srgbClr val="B9C6D6"/>
          </a:solidFill>
          <a:ln/>
        </p:spPr>
      </p:sp>
      <p:sp>
        <p:nvSpPr>
          <p:cNvPr id="25" name="Shape 20"/>
          <p:cNvSpPr/>
          <p:nvPr/>
        </p:nvSpPr>
        <p:spPr>
          <a:xfrm>
            <a:off x="10995660" y="3869055"/>
            <a:ext cx="123825" cy="123825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6" name="Text 21"/>
          <p:cNvSpPr/>
          <p:nvPr/>
        </p:nvSpPr>
        <p:spPr>
          <a:xfrm>
            <a:off x="11233785" y="3781742"/>
            <a:ext cx="1543526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Model</a:t>
            </a:r>
            <a:endParaRPr lang="en-US" sz="2100" dirty="0"/>
          </a:p>
        </p:txBody>
      </p:sp>
      <p:sp>
        <p:nvSpPr>
          <p:cNvPr id="27" name="Text 22"/>
          <p:cNvSpPr/>
          <p:nvPr/>
        </p:nvSpPr>
        <p:spPr>
          <a:xfrm>
            <a:off x="16077088" y="3605530"/>
            <a:ext cx="142616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0.32%</a:t>
            </a:r>
            <a:endParaRPr lang="en-US" sz="3600" dirty="0"/>
          </a:p>
        </p:txBody>
      </p:sp>
      <p:sp>
        <p:nvSpPr>
          <p:cNvPr id="28" name="Text 23"/>
          <p:cNvSpPr/>
          <p:nvPr/>
        </p:nvSpPr>
        <p:spPr>
          <a:xfrm>
            <a:off x="10357866" y="4105592"/>
            <a:ext cx="7015734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9AA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433 / 139,686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10995660" y="4588193"/>
            <a:ext cx="6377940" cy="9525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0" name="Text 25"/>
          <p:cNvSpPr/>
          <p:nvPr/>
        </p:nvSpPr>
        <p:spPr>
          <a:xfrm>
            <a:off x="10995660" y="4746943"/>
            <a:ext cx="6569278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WAVE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10995660" y="5153342"/>
            <a:ext cx="88106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1</a:t>
            </a:r>
            <a:endParaRPr lang="en-US" sz="2025" dirty="0"/>
          </a:p>
        </p:txBody>
      </p:sp>
      <p:sp>
        <p:nvSpPr>
          <p:cNvPr id="32" name="Text 27"/>
          <p:cNvSpPr/>
          <p:nvPr/>
        </p:nvSpPr>
        <p:spPr>
          <a:xfrm>
            <a:off x="11914823" y="5172392"/>
            <a:ext cx="1419178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~14d mature</a:t>
            </a:r>
            <a:endParaRPr lang="en-US" sz="1800" dirty="0"/>
          </a:p>
        </p:txBody>
      </p:sp>
      <p:sp>
        <p:nvSpPr>
          <p:cNvPr id="33" name="Text 28"/>
          <p:cNvSpPr/>
          <p:nvPr/>
        </p:nvSpPr>
        <p:spPr>
          <a:xfrm>
            <a:off x="10995660" y="5502593"/>
            <a:ext cx="7015734" cy="397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0.53%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7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 vs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2E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0.48%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7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C8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rel.</a:t>
            </a:r>
            <a:endParaRPr lang="en-US" sz="1950" dirty="0"/>
          </a:p>
        </p:txBody>
      </p:sp>
      <p:sp>
        <p:nvSpPr>
          <p:cNvPr id="34" name="Shape 29"/>
          <p:cNvSpPr/>
          <p:nvPr/>
        </p:nvSpPr>
        <p:spPr>
          <a:xfrm>
            <a:off x="10995660" y="6014085"/>
            <a:ext cx="6377940" cy="9525"/>
          </a:xfrm>
          <a:prstGeom prst="rect">
            <a:avLst/>
          </a:prstGeom>
          <a:solidFill>
            <a:srgbClr val="B9C6D6"/>
          </a:solidFill>
          <a:ln/>
        </p:spPr>
      </p:sp>
      <p:sp>
        <p:nvSpPr>
          <p:cNvPr id="35" name="Text 30"/>
          <p:cNvSpPr/>
          <p:nvPr/>
        </p:nvSpPr>
        <p:spPr>
          <a:xfrm>
            <a:off x="10995660" y="6172835"/>
            <a:ext cx="914241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2</a:t>
            </a:r>
            <a:endParaRPr lang="en-US" sz="2025" dirty="0"/>
          </a:p>
        </p:txBody>
      </p:sp>
      <p:sp>
        <p:nvSpPr>
          <p:cNvPr id="36" name="Text 31"/>
          <p:cNvSpPr/>
          <p:nvPr/>
        </p:nvSpPr>
        <p:spPr>
          <a:xfrm>
            <a:off x="11948001" y="6191885"/>
            <a:ext cx="306886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~8d, young / right-censored</a:t>
            </a:r>
            <a:endParaRPr lang="en-US" sz="1800" dirty="0"/>
          </a:p>
        </p:txBody>
      </p:sp>
      <p:sp>
        <p:nvSpPr>
          <p:cNvPr id="37" name="Text 32"/>
          <p:cNvSpPr/>
          <p:nvPr/>
        </p:nvSpPr>
        <p:spPr>
          <a:xfrm>
            <a:off x="10995660" y="6522085"/>
            <a:ext cx="7015734" cy="397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2E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0.15%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7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vs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0.13%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7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 behind</a:t>
            </a:r>
            <a:endParaRPr lang="en-US" sz="1950" dirty="0"/>
          </a:p>
        </p:txBody>
      </p:sp>
      <p:sp>
        <p:nvSpPr>
          <p:cNvPr id="38" name="Shape 33"/>
          <p:cNvSpPr/>
          <p:nvPr/>
        </p:nvSpPr>
        <p:spPr>
          <a:xfrm>
            <a:off x="914400" y="8243570"/>
            <a:ext cx="16459200" cy="754380"/>
          </a:xfrm>
          <a:prstGeom prst="roundRect">
            <a:avLst>
              <a:gd name="adj" fmla="val 3788"/>
            </a:avLst>
          </a:prstGeom>
          <a:solidFill>
            <a:srgbClr val="EDF4F6"/>
          </a:solidFill>
          <a:ln/>
        </p:spPr>
      </p:sp>
      <p:sp>
        <p:nvSpPr>
          <p:cNvPr id="39" name="Text 34"/>
          <p:cNvSpPr/>
          <p:nvPr/>
        </p:nvSpPr>
        <p:spPr>
          <a:xfrm>
            <a:off x="1200150" y="8500110"/>
            <a:ext cx="8572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163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800" dirty="0"/>
          </a:p>
        </p:txBody>
      </p:sp>
      <p:sp>
        <p:nvSpPr>
          <p:cNvPr id="40" name="Text 35"/>
          <p:cNvSpPr/>
          <p:nvPr/>
        </p:nvSpPr>
        <p:spPr>
          <a:xfrm>
            <a:off x="2190750" y="8434070"/>
            <a:ext cx="1634402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7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is wave-dependent and not yet stable. The vintage curve is the right lens — compare at </a:t>
            </a:r>
            <a:pPr algn="l" indent="0" marL="0">
              <a:lnSpc>
                <a:spcPct val="140000"/>
              </a:lnSpc>
              <a:buNone/>
            </a:pPr>
            <a:r>
              <a:rPr lang="en-US" sz="2100" i="1" dirty="0">
                <a:solidFill>
                  <a:srgbClr val="163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equal vintage day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7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not latest rate.</a:t>
            </a:r>
            <a:endParaRPr lang="en-US" sz="2100" dirty="0"/>
          </a:p>
        </p:txBody>
      </p:sp>
      <p:sp>
        <p:nvSpPr>
          <p:cNvPr id="41" name="Text 36"/>
          <p:cNvSpPr/>
          <p:nvPr/>
        </p:nvSpPr>
        <p:spPr>
          <a:xfrm>
            <a:off x="914400" y="9283700"/>
            <a:ext cx="12487613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AA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Rate = completed apps / population. Wave 2 right-censored at ~day 8 — not directly comparable to Wave 1's latest rate.</a:t>
            </a:r>
            <a:endParaRPr lang="en-US" sz="1800" dirty="0"/>
          </a:p>
        </p:txBody>
      </p:sp>
      <p:sp>
        <p:nvSpPr>
          <p:cNvPr id="42" name="Text 37"/>
          <p:cNvSpPr/>
          <p:nvPr/>
        </p:nvSpPr>
        <p:spPr>
          <a:xfrm>
            <a:off x="13038296" y="9283700"/>
            <a:ext cx="4465363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9AA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PCQ SALES MODEL · INTERIM · 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85800"/>
            <a:ext cx="477721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PCQ SALES MODEL · INTERIM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150850" y="685800"/>
            <a:ext cx="449834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C8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interim </a:t>
            </a:r>
            <a:pPr algn="l" indent="0" marL="0">
              <a:buNone/>
            </a:pPr>
            <a:r>
              <a:rPr lang="en-US" sz="1800" spc="72" kern="0" dirty="0">
                <a:solidFill>
                  <a:srgbClr val="9AA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as of June 16,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111250"/>
            <a:ext cx="17811750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questions </a:t>
            </a:r>
            <a:pPr algn="l" indent="0" marL="0">
              <a:lnSpc>
                <a:spcPct val="105000"/>
              </a:lnSpc>
              <a:buNone/>
            </a:pPr>
            <a:r>
              <a:rPr lang="en-US" sz="4200" i="1" dirty="0">
                <a:solidFill>
                  <a:srgbClr val="2E5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what the room will ask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047750" y="1918970"/>
            <a:ext cx="16192500" cy="1905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3484245"/>
            <a:ext cx="16192500" cy="9525"/>
          </a:xfrm>
          <a:prstGeom prst="rect">
            <a:avLst/>
          </a:prstGeom>
          <a:solidFill>
            <a:srgbClr val="B9C6D6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166620"/>
            <a:ext cx="5143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71650" y="2166620"/>
            <a:ext cx="1213426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vs design — both arms appear across all 10 deciles; design intended Champion = top-5 only.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771650" y="2976245"/>
            <a:ext cx="1295892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Parmeshar: intended, or a deployment variance? Pooled rate is decile-mix dependent.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3838238" y="2166620"/>
            <a:ext cx="3402013" cy="431800"/>
          </a:xfrm>
          <a:prstGeom prst="roundRect">
            <a:avLst>
              <a:gd name="adj" fmla="val 6618"/>
            </a:avLst>
          </a:prstGeom>
          <a:ln w="12700">
            <a:solidFill>
              <a:srgbClr val="C8A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984288" y="2245995"/>
            <a:ext cx="3211973" cy="3111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C8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· PARMESHAR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4665345"/>
            <a:ext cx="16192500" cy="9525"/>
          </a:xfrm>
          <a:prstGeom prst="rect">
            <a:avLst/>
          </a:prstGeom>
          <a:solidFill>
            <a:srgbClr val="B9C6D6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3719195"/>
            <a:ext cx="5143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DB0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71650" y="3719195"/>
            <a:ext cx="1513928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Decile mix — conversion effectively dies after decile 2.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771650" y="4157345"/>
            <a:ext cx="1513928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comparison is decile-by-decile (matched), not pooled.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5820390" y="3719195"/>
            <a:ext cx="1419860" cy="431800"/>
          </a:xfrm>
          <a:prstGeom prst="roundRect">
            <a:avLst>
              <a:gd name="adj" fmla="val 6618"/>
            </a:avLst>
          </a:prstGeom>
          <a:ln w="12700">
            <a:solidFill>
              <a:srgbClr val="C9D6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966440" y="3798570"/>
            <a:ext cx="1203960" cy="3111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63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7750" y="5846445"/>
            <a:ext cx="16192500" cy="9525"/>
          </a:xfrm>
          <a:prstGeom prst="rect">
            <a:avLst/>
          </a:prstGeom>
          <a:solidFill>
            <a:srgbClr val="B9C6D6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4900295"/>
            <a:ext cx="5143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DB0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71650" y="4900295"/>
            <a:ext cx="158014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challenger codes — NG3_CHLN vs NG3_CHLD.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771650" y="5338445"/>
            <a:ext cx="1580146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look identical — why two? Distinction TBD.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6422370" y="4900295"/>
            <a:ext cx="817880" cy="431800"/>
          </a:xfrm>
          <a:prstGeom prst="roundRect">
            <a:avLst>
              <a:gd name="adj" fmla="val 6618"/>
            </a:avLst>
          </a:prstGeom>
          <a:ln w="12700">
            <a:solidFill>
              <a:srgbClr val="C9D6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568420" y="4979670"/>
            <a:ext cx="601980" cy="3111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63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7750" y="7027545"/>
            <a:ext cx="16192500" cy="9525"/>
          </a:xfrm>
          <a:prstGeom prst="rect">
            <a:avLst/>
          </a:prstGeom>
          <a:solidFill>
            <a:srgbClr val="B9C6D6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6081395"/>
            <a:ext cx="5143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DB0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771650" y="6081395"/>
            <a:ext cx="1513928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— Wave 2 still right-censored.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771650" y="6519545"/>
            <a:ext cx="1513928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at equal vintage day, not latest rate.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5820390" y="6081395"/>
            <a:ext cx="1419860" cy="431800"/>
          </a:xfrm>
          <a:prstGeom prst="roundRect">
            <a:avLst>
              <a:gd name="adj" fmla="val 6618"/>
            </a:avLst>
          </a:prstGeom>
          <a:ln w="12700">
            <a:solidFill>
              <a:srgbClr val="C9D6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966440" y="6160770"/>
            <a:ext cx="1203960" cy="3111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63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47750" y="7262495"/>
            <a:ext cx="5143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DB0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771650" y="7262495"/>
            <a:ext cx="152601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control group — directional only.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771650" y="7700645"/>
            <a:ext cx="1526013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1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describe, not attribute cause. Nothing here is causal.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5930245" y="7262495"/>
            <a:ext cx="1310005" cy="431800"/>
          </a:xfrm>
          <a:prstGeom prst="roundRect">
            <a:avLst>
              <a:gd name="adj" fmla="val 6618"/>
            </a:avLst>
          </a:prstGeom>
          <a:ln w="12700">
            <a:solidFill>
              <a:srgbClr val="ECD8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076295" y="7341870"/>
            <a:ext cx="1094105" cy="3111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A6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47750" y="9302750"/>
            <a:ext cx="16192500" cy="9525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4"/>
          <p:cNvSpPr/>
          <p:nvPr/>
        </p:nvSpPr>
        <p:spPr>
          <a:xfrm>
            <a:off x="1047750" y="9480550"/>
            <a:ext cx="662597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C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only — no control group; directional, not causal.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781915" y="9480550"/>
            <a:ext cx="4904168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9AA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PCQ SALES MODEL · INTERIM · 04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2026-06-18T14:33:46Z</dcterms:created>
  <dcterms:modified xsi:type="dcterms:W3CDTF">2026-06-18T14:33:46Z</dcterms:modified>
</cp:coreProperties>
</file>